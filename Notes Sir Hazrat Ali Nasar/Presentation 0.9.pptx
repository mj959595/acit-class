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352" r:id="rId5"/>
    <p:sldId id="290" r:id="rId6"/>
    <p:sldId id="353" r:id="rId7"/>
    <p:sldId id="354" r:id="rId8"/>
    <p:sldId id="355" r:id="rId9"/>
    <p:sldId id="356" r:id="rId10"/>
    <p:sldId id="357" r:id="rId11"/>
    <p:sldId id="358" r:id="rId12"/>
    <p:sldId id="360" r:id="rId13"/>
    <p:sldId id="361" r:id="rId14"/>
    <p:sldId id="359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5" r:id="rId29"/>
    <p:sldId id="376" r:id="rId30"/>
    <p:sldId id="377" r:id="rId31"/>
    <p:sldId id="378" r:id="rId32"/>
    <p:sldId id="379" r:id="rId33"/>
    <p:sldId id="380" r:id="rId34"/>
    <p:sldId id="381" r:id="rId35"/>
    <p:sldId id="382" r:id="rId36"/>
    <p:sldId id="383" r:id="rId37"/>
    <p:sldId id="384" r:id="rId38"/>
    <p:sldId id="385" r:id="rId39"/>
    <p:sldId id="386" r:id="rId40"/>
    <p:sldId id="387" r:id="rId41"/>
    <p:sldId id="388" r:id="rId42"/>
    <p:sldId id="389" r:id="rId43"/>
    <p:sldId id="390" r:id="rId44"/>
    <p:sldId id="391" r:id="rId45"/>
    <p:sldId id="392" r:id="rId46"/>
    <p:sldId id="393" r:id="rId47"/>
    <p:sldId id="394" r:id="rId48"/>
    <p:sldId id="395" r:id="rId49"/>
    <p:sldId id="396" r:id="rId50"/>
    <p:sldId id="397" r:id="rId51"/>
    <p:sldId id="398" r:id="rId52"/>
    <p:sldId id="399" r:id="rId53"/>
    <p:sldId id="400" r:id="rId54"/>
    <p:sldId id="401" r:id="rId55"/>
    <p:sldId id="402" r:id="rId56"/>
    <p:sldId id="403" r:id="rId57"/>
    <p:sldId id="404" r:id="rId58"/>
    <p:sldId id="405" r:id="rId59"/>
    <p:sldId id="406" r:id="rId60"/>
    <p:sldId id="407" r:id="rId61"/>
    <p:sldId id="408" r:id="rId62"/>
    <p:sldId id="29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901"/>
    <a:srgbClr val="FDFDFD"/>
    <a:srgbClr val="016682"/>
    <a:srgbClr val="FEFFFA"/>
    <a:srgbClr val="F12317"/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67" d="100"/>
          <a:sy n="67" d="100"/>
        </p:scale>
        <p:origin x="846" y="7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71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9/12/2025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13BFF-1401-0035-5F7C-36A02A38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F0F82-CE01-B541-D8EE-6E0827FF9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3A698-F46E-3F1E-1BBE-975E50D6C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A5CE1-E078-1503-0F65-93D3C9BF0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338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ED9B5-514E-54D0-2E6C-97680C852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10FC44-7EED-BE13-4021-2C6EFFB87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7F40C-8BB2-8904-5D6F-1EC46BA20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C41A3-A796-2221-F44B-DB3DFD0A8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348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624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03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81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996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342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02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470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30EC-4AE2-22CD-530D-F8737ED9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2EBC3-6E11-AB74-858F-AB0945BAB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4B520-5BDD-4E4D-FADA-5A52694AA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B45FC-0335-2C53-AA6A-7F28DFEED6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8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3FBA0-4791-A2A5-E4EA-4059AF71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9A2FA-DCF3-21F7-D559-ABC56941C6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A16200-8111-CA19-1F7E-4D531AC4F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2ED37-366E-1456-9E3E-8858D06EC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11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21703-F0B1-B87C-9C84-30CEEC1C5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81A13-69BB-924D-C454-5C7380E95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ADD69B-0ACC-F1B1-EB2E-1B28C1ADB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B965A-7A61-5C07-8016-187F7908A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515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53C6-EF31-BE51-EAAF-848DBB04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B0996-0CE5-16D5-80FE-B411836AF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48D1D3-3D4D-86F7-D191-D34515654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B1BFF-577A-AEE3-7F47-CD7356DA5C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559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9B8A-8535-278F-3AB8-2EF89B254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9318D-5397-8E6E-57BB-7E490B3841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4AC7F-CB67-F573-8D2E-D2C06D875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4657-73C5-9A82-3C6D-9E146334E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403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4615D-2465-A998-2C06-CEA0F3CCC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81D05-2384-525E-D547-E61A04EE4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B36F93-BE28-5DA3-9F7B-1361FBCB6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2B8FE-4258-EE19-D5AC-8187AAACD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72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F1381-9FE6-D41A-2E99-A6CB29EE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22D1E4-0741-A444-DFA9-FC2AD4979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FC7A87-81F1-DCCD-0D65-5B4C5C971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E5C82-8CF9-3CA3-530D-8F8682772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1156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DAB4-8E1B-F49F-6856-EA0D9C239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1318F-1A78-ECD7-9923-23D215A46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FB69D-DCCE-1E88-AD7B-89DDFD1C3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60EFF-8712-9277-1B71-7907A83C9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068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9922C-05F0-8AEE-7B45-8FBE8FF0B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BF4AD-3F40-8DAE-D483-2E569D3CB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5E258-9C35-D0D1-8AED-0F11F9A4A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E61CA-BCCF-E737-9E91-8B9315A8B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601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FEF86-9640-E4E9-7674-6244C2B83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D6E3D-8BBB-4FF0-7980-E0AFB43CE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17EF1-BDFA-A750-CB06-9891A1039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F97FC-A6C4-58EC-AC66-58325FEF9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292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69B1D-3385-9D14-7698-340BFC71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ED503-BE24-9A55-EBFE-CAA3BDFD6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FDAA7-A0C4-5A26-6276-C71965897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62754-2A99-2C68-0C1D-8CC813A6C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603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39680-D294-2E1D-90F0-D8F5F2AF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39F43-FCD0-47A3-F88B-1BE90A002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3E475-E098-11DF-DAAB-3C8E45A26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BB5398-F661-8F38-076C-15C8B0033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544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E88F5-C784-6F49-1317-B5EEC118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BDE1A-6C37-FE27-772C-0318844F6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D68DA-AEE5-D43E-2162-65C16D768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1A490-9D4F-D0A7-65AD-4A4E0CF0F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36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5AF98-129C-E9BA-8218-7C9BD1F6A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390318-2B19-2747-7D3D-C5DDFF7D5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CD402-1D73-6AED-3C65-379A366C5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01642-DB00-EFCC-D02D-4997D0B76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5047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D3C1-6D46-10DD-2B12-59121E87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47FD23-B5E6-A55B-47E6-EB3C4E8B3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0AF7A-8FE1-5994-0220-550A498D5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E3B4F-1DC0-ACAE-9D68-11BCFC146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1077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504B-DF0C-F802-C709-76A635F7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25F4A-2DA1-AAE8-35AB-A2F077EB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6F4DB-A7D2-78FD-201A-ED6E4F08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27C69-4C26-0DCA-9F8E-1521E2C3B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1266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9B64-0FAC-25FA-9996-E05B4D5B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377EE-31CE-9833-60B0-8C31EFADF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CAE308-0526-0F34-558E-123083C19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49072-7819-3648-B006-8DE433AB8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6020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0D89-6903-C92F-4825-6F4C5EDD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D4B49-996C-12C0-5733-29A96FBCB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326B0-E05F-BF68-0F25-D8707C930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2F96E-D156-2779-3201-DABD1D8AE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458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681C-BAA1-7704-076F-31BDF764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615D4-F8E8-D96B-F303-C721E946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09008-BAF3-C17E-7C61-92518A27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B5EB-92BA-D59E-C386-E26F88958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052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681C-BAA1-7704-076F-31BDF764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615D4-F8E8-D96B-F303-C721E946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09008-BAF3-C17E-7C61-92518A27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B5EB-92BA-D59E-C386-E26F88958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742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681C-BAA1-7704-076F-31BDF764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615D4-F8E8-D96B-F303-C721E9463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09008-BAF3-C17E-7C61-92518A272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CB5EB-92BA-D59E-C386-E26F88958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4938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017E-1C1D-BFC7-5B73-7B8408A9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953EA-4BA5-4B74-50F3-72368BE64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4DA40-CEA7-9BE0-8C3C-5C44B09BC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1F54B-3503-4C8A-2C31-3F52FB786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6631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6B1F2-9896-33EF-1B16-58BECBD7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7F435-5354-5883-C62B-722E23BAB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18A39-540F-B05E-CF81-C9AADD9BBE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0E00C-3B93-84FF-B0D7-BE6B5B5A3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590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D7F8-A2D7-A052-6FB5-FB8E10C7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6EADD-AB0A-0D24-FF9C-417ACECD1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599EF-6E29-FBC2-A174-22C9FC692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3B290-5AD2-4E7A-C55E-FF661EAFC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6832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63C93-5D45-645A-0F50-9E8A3B5BE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4336C-A659-DC36-BD92-545211F02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F6849-FCF7-E4F0-F4F9-B209E2421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860A3-5745-52FE-67A7-6CDB5C056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6679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9F14-CB2C-5C97-683C-82A6FF87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4B363-8869-A041-C468-211DED7CF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58B3AF-ED6D-91D3-4C65-2A6C0D67C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E6FD1-3AB8-50BB-54ED-712681761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1805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6250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2373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3447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6436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9252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5411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46373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61113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0022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6292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54616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947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909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8024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50228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62273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1376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3695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85196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6706-E1C0-53B8-DD01-C8FA93417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86370-2FAF-7C80-7DE7-DB433033E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71005-51CA-FA93-0FC6-E7B80D476F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D2DAE-1CF8-97E7-5878-7DD7C3C15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7753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34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B1E5A-D38C-DFD3-E52A-5AFF2723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666CB-6E39-4891-990F-7270FF0442BD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0F466-08A2-80F6-13D8-363F5553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32AF7-C56B-79D8-7713-E218293B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D9A81-7FF5-4B47-9D80-06531D515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02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61" r:id="rId7"/>
    <p:sldLayoutId id="2147483666" r:id="rId8"/>
    <p:sldLayoutId id="2147483678" r:id="rId9"/>
    <p:sldLayoutId id="2147483679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A46DE71-6F11-43E3-B92C-4762162CD4CF}"/>
              </a:ext>
            </a:extLst>
          </p:cNvPr>
          <p:cNvGrpSpPr/>
          <p:nvPr/>
        </p:nvGrpSpPr>
        <p:grpSpPr>
          <a:xfrm>
            <a:off x="0" y="2411198"/>
            <a:ext cx="12192000" cy="1374074"/>
            <a:chOff x="0" y="2694891"/>
            <a:chExt cx="12192000" cy="137407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B4C724-0776-4328-8F0A-B72DA1579537}"/>
                </a:ext>
              </a:extLst>
            </p:cNvPr>
            <p:cNvSpPr txBox="1"/>
            <p:nvPr/>
          </p:nvSpPr>
          <p:spPr>
            <a:xfrm>
              <a:off x="0" y="3145635"/>
              <a:ext cx="12192000" cy="92333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5400" dirty="0">
                  <a:solidFill>
                    <a:srgbClr val="F12317"/>
                  </a:solidFill>
                  <a:latin typeface="+mj-lt"/>
                </a:rPr>
                <a:t>Laravel</a:t>
              </a:r>
              <a:r>
                <a:rPr lang="en-US" sz="5400" dirty="0">
                  <a:solidFill>
                    <a:schemeClr val="bg1"/>
                  </a:solidFill>
                  <a:latin typeface="+mj-lt"/>
                </a:rPr>
                <a:t> &amp; </a:t>
              </a:r>
              <a:r>
                <a:rPr lang="en-US" sz="5400" dirty="0">
                  <a:solidFill>
                    <a:srgbClr val="0070C0"/>
                  </a:solidFill>
                  <a:latin typeface="+mj-lt"/>
                </a:rPr>
                <a:t>React</a:t>
              </a:r>
              <a:endParaRPr lang="ko-KR" altLang="en-US" sz="5400" dirty="0">
                <a:solidFill>
                  <a:srgbClr val="0070C0"/>
                </a:solidFill>
                <a:latin typeface="+mj-lt"/>
                <a:cs typeface="Arial" pitchFamily="34" charset="0"/>
              </a:endParaRPr>
            </a:p>
          </p:txBody>
        </p:sp>
        <p:grpSp>
          <p:nvGrpSpPr>
            <p:cNvPr id="3" name="Graphic 1">
              <a:extLst>
                <a:ext uri="{FF2B5EF4-FFF2-40B4-BE49-F238E27FC236}">
                  <a16:creationId xmlns:a16="http://schemas.microsoft.com/office/drawing/2014/main" id="{654B8B42-5803-41D1-913F-6C301EAD336B}"/>
                </a:ext>
              </a:extLst>
            </p:cNvPr>
            <p:cNvGrpSpPr/>
            <p:nvPr/>
          </p:nvGrpSpPr>
          <p:grpSpPr>
            <a:xfrm>
              <a:off x="5253701" y="2694891"/>
              <a:ext cx="1684599" cy="432917"/>
              <a:chOff x="28576" y="1871662"/>
              <a:chExt cx="12134850" cy="3118485"/>
            </a:xfrm>
            <a:solidFill>
              <a:schemeClr val="bg1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7391C43-A7C4-4450-A16A-F5658A36EA57}"/>
                  </a:ext>
                </a:extLst>
              </p:cNvPr>
              <p:cNvSpPr/>
              <p:nvPr/>
            </p:nvSpPr>
            <p:spPr>
              <a:xfrm>
                <a:off x="28576" y="1871662"/>
                <a:ext cx="12134850" cy="3118485"/>
              </a:xfrm>
              <a:custGeom>
                <a:avLst/>
                <a:gdLst>
                  <a:gd name="connsiteX0" fmla="*/ 10575608 w 12134850"/>
                  <a:gd name="connsiteY0" fmla="*/ 3118485 h 3118484"/>
                  <a:gd name="connsiteX1" fmla="*/ 1559243 w 12134850"/>
                  <a:gd name="connsiteY1" fmla="*/ 3118485 h 3118484"/>
                  <a:gd name="connsiteX2" fmla="*/ 0 w 12134850"/>
                  <a:gd name="connsiteY2" fmla="*/ 1559243 h 3118484"/>
                  <a:gd name="connsiteX3" fmla="*/ 1559243 w 12134850"/>
                  <a:gd name="connsiteY3" fmla="*/ 0 h 3118484"/>
                  <a:gd name="connsiteX4" fmla="*/ 10575608 w 12134850"/>
                  <a:gd name="connsiteY4" fmla="*/ 0 h 3118484"/>
                  <a:gd name="connsiteX5" fmla="*/ 12134850 w 12134850"/>
                  <a:gd name="connsiteY5" fmla="*/ 1559243 h 3118484"/>
                  <a:gd name="connsiteX6" fmla="*/ 10575608 w 12134850"/>
                  <a:gd name="connsiteY6" fmla="*/ 3118485 h 3118484"/>
                  <a:gd name="connsiteX7" fmla="*/ 1559243 w 12134850"/>
                  <a:gd name="connsiteY7" fmla="*/ 135255 h 3118484"/>
                  <a:gd name="connsiteX8" fmla="*/ 135255 w 12134850"/>
                  <a:gd name="connsiteY8" fmla="*/ 1559243 h 3118484"/>
                  <a:gd name="connsiteX9" fmla="*/ 1559243 w 12134850"/>
                  <a:gd name="connsiteY9" fmla="*/ 2983230 h 3118484"/>
                  <a:gd name="connsiteX10" fmla="*/ 10575608 w 12134850"/>
                  <a:gd name="connsiteY10" fmla="*/ 2983230 h 3118484"/>
                  <a:gd name="connsiteX11" fmla="*/ 11999595 w 12134850"/>
                  <a:gd name="connsiteY11" fmla="*/ 1559243 h 3118484"/>
                  <a:gd name="connsiteX12" fmla="*/ 10575608 w 12134850"/>
                  <a:gd name="connsiteY12" fmla="*/ 135255 h 3118484"/>
                  <a:gd name="connsiteX13" fmla="*/ 1559243 w 12134850"/>
                  <a:gd name="connsiteY13" fmla="*/ 135255 h 3118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134850" h="3118484">
                    <a:moveTo>
                      <a:pt x="10575608" y="3118485"/>
                    </a:moveTo>
                    <a:lnTo>
                      <a:pt x="1559243" y="3118485"/>
                    </a:lnTo>
                    <a:cubicBezTo>
                      <a:pt x="699135" y="3118485"/>
                      <a:pt x="0" y="2419350"/>
                      <a:pt x="0" y="1559243"/>
                    </a:cubicBezTo>
                    <a:cubicBezTo>
                      <a:pt x="0" y="699135"/>
                      <a:pt x="699135" y="0"/>
                      <a:pt x="1559243" y="0"/>
                    </a:cubicBezTo>
                    <a:lnTo>
                      <a:pt x="10575608" y="0"/>
                    </a:lnTo>
                    <a:cubicBezTo>
                      <a:pt x="11435715" y="0"/>
                      <a:pt x="12134850" y="699135"/>
                      <a:pt x="12134850" y="1559243"/>
                    </a:cubicBezTo>
                    <a:cubicBezTo>
                      <a:pt x="12134850" y="2419350"/>
                      <a:pt x="11435715" y="3118485"/>
                      <a:pt x="10575608" y="3118485"/>
                    </a:cubicBezTo>
                    <a:close/>
                    <a:moveTo>
                      <a:pt x="1559243" y="135255"/>
                    </a:moveTo>
                    <a:cubicBezTo>
                      <a:pt x="774383" y="135255"/>
                      <a:pt x="135255" y="774383"/>
                      <a:pt x="135255" y="1559243"/>
                    </a:cubicBezTo>
                    <a:cubicBezTo>
                      <a:pt x="135255" y="2344103"/>
                      <a:pt x="773430" y="2983230"/>
                      <a:pt x="1559243" y="2983230"/>
                    </a:cubicBezTo>
                    <a:lnTo>
                      <a:pt x="10575608" y="2983230"/>
                    </a:lnTo>
                    <a:cubicBezTo>
                      <a:pt x="11360467" y="2983230"/>
                      <a:pt x="11999595" y="2344103"/>
                      <a:pt x="11999595" y="1559243"/>
                    </a:cubicBezTo>
                    <a:cubicBezTo>
                      <a:pt x="11999595" y="774383"/>
                      <a:pt x="11361420" y="135255"/>
                      <a:pt x="10575608" y="135255"/>
                    </a:cubicBezTo>
                    <a:lnTo>
                      <a:pt x="1559243" y="1352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8" name="Graphic 1">
                <a:extLst>
                  <a:ext uri="{FF2B5EF4-FFF2-40B4-BE49-F238E27FC236}">
                    <a16:creationId xmlns:a16="http://schemas.microsoft.com/office/drawing/2014/main" id="{654B8B42-5803-41D1-913F-6C301EAD336B}"/>
                  </a:ext>
                </a:extLst>
              </p:cNvPr>
              <p:cNvGrpSpPr/>
              <p:nvPr/>
            </p:nvGrpSpPr>
            <p:grpSpPr>
              <a:xfrm>
                <a:off x="1795463" y="2615567"/>
                <a:ext cx="2436493" cy="1697350"/>
                <a:chOff x="1795463" y="2615564"/>
                <a:chExt cx="2436494" cy="1697354"/>
              </a:xfrm>
              <a:grpFill/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BF55E03-EA07-4906-BB8F-E8D00F3A60D3}"/>
                    </a:ext>
                  </a:extLst>
                </p:cNvPr>
                <p:cNvSpPr/>
                <p:nvPr/>
              </p:nvSpPr>
              <p:spPr>
                <a:xfrm>
                  <a:off x="1795463" y="2615564"/>
                  <a:ext cx="1414461" cy="1697354"/>
                </a:xfrm>
                <a:custGeom>
                  <a:avLst/>
                  <a:gdLst>
                    <a:gd name="connsiteX0" fmla="*/ 1288732 w 1414462"/>
                    <a:gd name="connsiteY0" fmla="*/ 1835468 h 1835467"/>
                    <a:gd name="connsiteX1" fmla="*/ 689610 w 1414462"/>
                    <a:gd name="connsiteY1" fmla="*/ 365760 h 1835467"/>
                    <a:gd name="connsiteX2" fmla="*/ 126683 w 1414462"/>
                    <a:gd name="connsiteY2" fmla="*/ 1798320 h 1835467"/>
                    <a:gd name="connsiteX3" fmla="*/ 0 w 1414462"/>
                    <a:gd name="connsiteY3" fmla="*/ 1747838 h 1835467"/>
                    <a:gd name="connsiteX4" fmla="*/ 687705 w 1414462"/>
                    <a:gd name="connsiteY4" fmla="*/ 0 h 1835467"/>
                    <a:gd name="connsiteX5" fmla="*/ 1414463 w 1414462"/>
                    <a:gd name="connsiteY5" fmla="*/ 1784985 h 1835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414462" h="1835467">
                      <a:moveTo>
                        <a:pt x="1288732" y="1835468"/>
                      </a:moveTo>
                      <a:lnTo>
                        <a:pt x="689610" y="365760"/>
                      </a:lnTo>
                      <a:lnTo>
                        <a:pt x="126683" y="1798320"/>
                      </a:lnTo>
                      <a:lnTo>
                        <a:pt x="0" y="1747838"/>
                      </a:lnTo>
                      <a:lnTo>
                        <a:pt x="687705" y="0"/>
                      </a:lnTo>
                      <a:lnTo>
                        <a:pt x="1414463" y="1784985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1BD0B22-2415-4008-BFAE-7EE8BEC602DA}"/>
                    </a:ext>
                  </a:extLst>
                </p:cNvPr>
                <p:cNvSpPr/>
                <p:nvPr/>
              </p:nvSpPr>
              <p:spPr>
                <a:xfrm>
                  <a:off x="3416618" y="2615564"/>
                  <a:ext cx="815339" cy="1697354"/>
                </a:xfrm>
                <a:custGeom>
                  <a:avLst/>
                  <a:gdLst>
                    <a:gd name="connsiteX0" fmla="*/ 815340 w 815339"/>
                    <a:gd name="connsiteY0" fmla="*/ 1697355 h 1697354"/>
                    <a:gd name="connsiteX1" fmla="*/ 0 w 815339"/>
                    <a:gd name="connsiteY1" fmla="*/ 1697355 h 1697354"/>
                    <a:gd name="connsiteX2" fmla="*/ 37147 w 815339"/>
                    <a:gd name="connsiteY2" fmla="*/ 0 h 1697354"/>
                    <a:gd name="connsiteX3" fmla="*/ 172402 w 815339"/>
                    <a:gd name="connsiteY3" fmla="*/ 3810 h 1697354"/>
                    <a:gd name="connsiteX4" fmla="*/ 139065 w 815339"/>
                    <a:gd name="connsiteY4" fmla="*/ 1561148 h 1697354"/>
                    <a:gd name="connsiteX5" fmla="*/ 815340 w 815339"/>
                    <a:gd name="connsiteY5" fmla="*/ 1561148 h 1697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339" h="1697354">
                      <a:moveTo>
                        <a:pt x="815340" y="1697355"/>
                      </a:moveTo>
                      <a:lnTo>
                        <a:pt x="0" y="1697355"/>
                      </a:lnTo>
                      <a:lnTo>
                        <a:pt x="37147" y="0"/>
                      </a:lnTo>
                      <a:lnTo>
                        <a:pt x="172402" y="3810"/>
                      </a:lnTo>
                      <a:lnTo>
                        <a:pt x="139065" y="1561148"/>
                      </a:lnTo>
                      <a:lnTo>
                        <a:pt x="815340" y="1561148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4E7937F-4F2F-F159-B41C-B1987F6C8FA9}"/>
              </a:ext>
            </a:extLst>
          </p:cNvPr>
          <p:cNvSpPr txBox="1"/>
          <p:nvPr/>
        </p:nvSpPr>
        <p:spPr>
          <a:xfrm>
            <a:off x="5724040" y="2447618"/>
            <a:ext cx="288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12317"/>
                </a:solidFill>
              </a:rPr>
              <a:t>I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872DAE6-2065-FE03-A9B7-48B3C0D1A062}"/>
              </a:ext>
            </a:extLst>
          </p:cNvPr>
          <p:cNvSpPr/>
          <p:nvPr/>
        </p:nvSpPr>
        <p:spPr>
          <a:xfrm>
            <a:off x="5829344" y="2494833"/>
            <a:ext cx="69586" cy="69586"/>
          </a:xfrm>
          <a:prstGeom prst="ellipse">
            <a:avLst/>
          </a:prstGeom>
          <a:ln/>
          <a:effectLst>
            <a:glow rad="139700">
              <a:schemeClr val="accent1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A53947-521C-4AE9-DEEE-142B1F610DC1}"/>
              </a:ext>
            </a:extLst>
          </p:cNvPr>
          <p:cNvSpPr txBox="1"/>
          <p:nvPr/>
        </p:nvSpPr>
        <p:spPr>
          <a:xfrm>
            <a:off x="5898930" y="2411198"/>
            <a:ext cx="1065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NASAR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A6A17F-7C12-0B5F-A620-5BB6C3C93ACF}"/>
              </a:ext>
            </a:extLst>
          </p:cNvPr>
          <p:cNvSpPr txBox="1">
            <a:spLocks/>
          </p:cNvSpPr>
          <p:nvPr/>
        </p:nvSpPr>
        <p:spPr>
          <a:xfrm>
            <a:off x="8883067" y="3429000"/>
            <a:ext cx="3985208" cy="112962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None/>
            </a:pPr>
            <a:r>
              <a:rPr lang="en-US" sz="1050" dirty="0">
                <a:solidFill>
                  <a:schemeClr val="bg1"/>
                </a:solidFill>
              </a:rPr>
              <a:t>“YOUR </a:t>
            </a:r>
            <a:r>
              <a:rPr lang="en-US" sz="1800" b="1" dirty="0">
                <a:solidFill>
                  <a:srgbClr val="FFB9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FUTURE</a:t>
            </a:r>
            <a:r>
              <a:rPr lang="en-US" sz="1050" dirty="0">
                <a:solidFill>
                  <a:schemeClr val="bg1"/>
                </a:solidFill>
              </a:rPr>
              <a:t> IS CREATED BY WHAT</a:t>
            </a:r>
          </a:p>
          <a:p>
            <a:pPr marL="0" indent="0">
              <a:lnSpc>
                <a:spcPct val="5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YOU DO   </a:t>
            </a:r>
            <a:r>
              <a:rPr lang="en-US" sz="1400" b="1" dirty="0">
                <a:solidFill>
                  <a:schemeClr val="bg1"/>
                </a:solidFill>
              </a:rPr>
              <a:t>       </a:t>
            </a:r>
            <a:r>
              <a:rPr lang="en-US" sz="4000" b="1" dirty="0">
                <a:solidFill>
                  <a:schemeClr val="bg1"/>
                </a:solidFill>
              </a:rPr>
              <a:t>TODAY }</a:t>
            </a:r>
            <a:endParaRPr lang="en-US" sz="1400" b="1" dirty="0">
              <a:solidFill>
                <a:schemeClr val="bg1"/>
              </a:solidFill>
            </a:endParaRPr>
          </a:p>
          <a:p>
            <a:pPr marL="0" indent="0">
              <a:lnSpc>
                <a:spcPct val="50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           </a:t>
            </a:r>
            <a:r>
              <a:rPr lang="en-US" sz="1800" b="1" dirty="0">
                <a:solidFill>
                  <a:schemeClr val="bg1"/>
                </a:solidFill>
              </a:rPr>
              <a:t>NOT</a:t>
            </a:r>
            <a:r>
              <a:rPr lang="en-US" sz="1400" b="1" dirty="0">
                <a:solidFill>
                  <a:schemeClr val="bg1"/>
                </a:solidFill>
              </a:rPr>
              <a:t>           </a:t>
            </a:r>
            <a:r>
              <a:rPr lang="en-US" sz="2000" b="1" strike="sngStrike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TOMORROW”</a:t>
            </a:r>
            <a:endParaRPr lang="en-US" sz="1400" b="1" strike="sngStrike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BDD30DC-6521-D704-CD63-A8A59656D5A4}"/>
              </a:ext>
            </a:extLst>
          </p:cNvPr>
          <p:cNvSpPr txBox="1">
            <a:spLocks/>
          </p:cNvSpPr>
          <p:nvPr/>
        </p:nvSpPr>
        <p:spPr>
          <a:xfrm>
            <a:off x="9875151" y="3785272"/>
            <a:ext cx="1210820" cy="17747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50000"/>
              </a:lnSpc>
              <a:buNone/>
            </a:pPr>
            <a:r>
              <a:rPr lang="en-US" sz="66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  <a:endParaRPr lang="en-US" sz="8800" b="1" strike="sngStrike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3673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/>
          <a:lstStyle/>
          <a:p>
            <a:r>
              <a:rPr lang="en-US" dirty="0"/>
              <a:t>PHP framework</a:t>
            </a:r>
          </a:p>
          <a:p>
            <a:r>
              <a:rPr lang="en-US" dirty="0"/>
              <a:t>To make website and API.</a:t>
            </a:r>
          </a:p>
          <a:p>
            <a:r>
              <a:rPr lang="en-US" dirty="0"/>
              <a:t>Easy to learn.</a:t>
            </a:r>
          </a:p>
          <a:p>
            <a:r>
              <a:rPr lang="en-US" dirty="0"/>
              <a:t>Most used PHP framework.</a:t>
            </a:r>
          </a:p>
          <a:p>
            <a:r>
              <a:rPr lang="en-US" dirty="0"/>
              <a:t>MVC Pattern.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E21CF5B-DFD9-44D5-4558-5F21796F276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963211"/>
            <a:ext cx="5972277" cy="3981518"/>
          </a:xfrm>
        </p:spPr>
      </p:pic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3360-0A67-8B00-CBD3-174CF6DE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EA50D29-CA80-E289-9D02-8948900C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What is Framework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B29C-8BA1-03A7-D98B-167554065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940878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platform written programming language.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That has more features, tools and function than a programming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fast and easy development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340987-9991-6F8F-E281-1D3F6804BED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382693" y="2023984"/>
            <a:ext cx="4663440" cy="333283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Feature example</a:t>
            </a:r>
          </a:p>
          <a:p>
            <a:pPr marL="626364" lvl="1" indent="-342900"/>
            <a:r>
              <a:rPr lang="en-US" dirty="0"/>
              <a:t>Routing</a:t>
            </a:r>
          </a:p>
          <a:p>
            <a:pPr marL="626364" lvl="1" indent="-342900"/>
            <a:r>
              <a:rPr lang="en-US" dirty="0"/>
              <a:t>DB connection</a:t>
            </a:r>
          </a:p>
          <a:p>
            <a:pPr marL="626364" lvl="1" indent="-342900"/>
            <a:r>
              <a:rPr lang="en-US" dirty="0"/>
              <a:t>Well manage code</a:t>
            </a:r>
          </a:p>
          <a:p>
            <a:pPr marL="626364" lvl="1" indent="-342900"/>
            <a:r>
              <a:rPr lang="en-US" dirty="0"/>
              <a:t>project structure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35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ck Arc 4">
            <a:extLst>
              <a:ext uri="{FF2B5EF4-FFF2-40B4-BE49-F238E27FC236}">
                <a16:creationId xmlns:a16="http://schemas.microsoft.com/office/drawing/2014/main" id="{F23B796F-1C5F-83B0-EDC0-FC45C7940AB1}"/>
              </a:ext>
            </a:extLst>
          </p:cNvPr>
          <p:cNvSpPr/>
          <p:nvPr/>
        </p:nvSpPr>
        <p:spPr>
          <a:xfrm>
            <a:off x="1374516" y="2078999"/>
            <a:ext cx="2697480" cy="2700000"/>
          </a:xfrm>
          <a:prstGeom prst="blockArc">
            <a:avLst>
              <a:gd name="adj1" fmla="val 16064589"/>
              <a:gd name="adj2" fmla="val 18864686"/>
              <a:gd name="adj3" fmla="val 3479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7B624465-33DD-5541-7EB6-66744E5E00C4}"/>
              </a:ext>
            </a:extLst>
          </p:cNvPr>
          <p:cNvSpPr/>
          <p:nvPr/>
        </p:nvSpPr>
        <p:spPr>
          <a:xfrm rot="3346177">
            <a:off x="1374516" y="2078999"/>
            <a:ext cx="2697480" cy="2700000"/>
          </a:xfrm>
          <a:prstGeom prst="blockArc">
            <a:avLst>
              <a:gd name="adj1" fmla="val 15510167"/>
              <a:gd name="adj2" fmla="val 17921510"/>
              <a:gd name="adj3" fmla="val 3448"/>
            </a:avLst>
          </a:pr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Block Arc 6">
            <a:extLst>
              <a:ext uri="{FF2B5EF4-FFF2-40B4-BE49-F238E27FC236}">
                <a16:creationId xmlns:a16="http://schemas.microsoft.com/office/drawing/2014/main" id="{1308EE25-8BF9-A91C-972F-77E8B91A7EAF}"/>
              </a:ext>
            </a:extLst>
          </p:cNvPr>
          <p:cNvSpPr/>
          <p:nvPr/>
        </p:nvSpPr>
        <p:spPr>
          <a:xfrm rot="6643254">
            <a:off x="1374516" y="2078999"/>
            <a:ext cx="2697480" cy="2700000"/>
          </a:xfrm>
          <a:prstGeom prst="blockArc">
            <a:avLst>
              <a:gd name="adj1" fmla="val 14636580"/>
              <a:gd name="adj2" fmla="val 17110688"/>
              <a:gd name="adj3" fmla="val 3368"/>
            </a:avLst>
          </a:prstGeom>
          <a:solidFill>
            <a:srgbClr val="17DCF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Block Arc 7">
            <a:extLst>
              <a:ext uri="{FF2B5EF4-FFF2-40B4-BE49-F238E27FC236}">
                <a16:creationId xmlns:a16="http://schemas.microsoft.com/office/drawing/2014/main" id="{AD9DBCBE-1322-C024-8A0B-5F6B531A77CB}"/>
              </a:ext>
            </a:extLst>
          </p:cNvPr>
          <p:cNvSpPr/>
          <p:nvPr/>
        </p:nvSpPr>
        <p:spPr>
          <a:xfrm rot="9974474">
            <a:off x="1374516" y="2078999"/>
            <a:ext cx="2697480" cy="2700000"/>
          </a:xfrm>
          <a:prstGeom prst="blockArc">
            <a:avLst>
              <a:gd name="adj1" fmla="val 13779142"/>
              <a:gd name="adj2" fmla="val 16657755"/>
              <a:gd name="adj3" fmla="val 3336"/>
            </a:avLst>
          </a:prstGeom>
          <a:solidFill>
            <a:srgbClr val="E238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D3718CE2-7617-B72A-B8F1-EA95249F973E}"/>
              </a:ext>
            </a:extLst>
          </p:cNvPr>
          <p:cNvSpPr/>
          <p:nvPr/>
        </p:nvSpPr>
        <p:spPr>
          <a:xfrm>
            <a:off x="743580" y="1449323"/>
            <a:ext cx="3959352" cy="3959352"/>
          </a:xfrm>
          <a:prstGeom prst="arc">
            <a:avLst>
              <a:gd name="adj1" fmla="val 16200000"/>
              <a:gd name="adj2" fmla="val 5399551"/>
            </a:avLst>
          </a:prstGeom>
          <a:ln w="12700"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7AED717-E0B3-F7C8-6C67-D047BC9E8151}"/>
              </a:ext>
            </a:extLst>
          </p:cNvPr>
          <p:cNvGrpSpPr/>
          <p:nvPr/>
        </p:nvGrpSpPr>
        <p:grpSpPr>
          <a:xfrm>
            <a:off x="6146599" y="757966"/>
            <a:ext cx="3354847" cy="720000"/>
            <a:chOff x="6146599" y="757966"/>
            <a:chExt cx="3354847" cy="72000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7ED66655-7E67-B085-F1F7-EB5C1D1C6D85}"/>
                </a:ext>
              </a:extLst>
            </p:cNvPr>
            <p:cNvSpPr/>
            <p:nvPr/>
          </p:nvSpPr>
          <p:spPr>
            <a:xfrm>
              <a:off x="6146599" y="757966"/>
              <a:ext cx="3354847" cy="72000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7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8EE2D9A-DDEB-CB48-E499-6E8AFE8251A2}"/>
                </a:ext>
              </a:extLst>
            </p:cNvPr>
            <p:cNvSpPr txBox="1"/>
            <p:nvPr/>
          </p:nvSpPr>
          <p:spPr>
            <a:xfrm>
              <a:off x="6897637" y="948406"/>
              <a:ext cx="257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dirty="0">
                  <a:solidFill>
                    <a:schemeClr val="bg1"/>
                  </a:solidFill>
                </a:rPr>
                <a:t>MVC Architecture Support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93A3571-F5D5-FAED-D728-1F90DC507358}"/>
              </a:ext>
            </a:extLst>
          </p:cNvPr>
          <p:cNvGrpSpPr/>
          <p:nvPr/>
        </p:nvGrpSpPr>
        <p:grpSpPr>
          <a:xfrm>
            <a:off x="7193635" y="2194291"/>
            <a:ext cx="3354847" cy="720000"/>
            <a:chOff x="7193635" y="2194291"/>
            <a:chExt cx="3354847" cy="720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4F5B1FC-E26D-C99A-252A-74E37EDA9995}"/>
                </a:ext>
              </a:extLst>
            </p:cNvPr>
            <p:cNvSpPr/>
            <p:nvPr/>
          </p:nvSpPr>
          <p:spPr>
            <a:xfrm>
              <a:off x="7193635" y="2194291"/>
              <a:ext cx="3354847" cy="720000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234F76C-63D5-1B23-4BCF-044D0A78D2C9}"/>
                </a:ext>
              </a:extLst>
            </p:cNvPr>
            <p:cNvSpPr txBox="1"/>
            <p:nvPr/>
          </p:nvSpPr>
          <p:spPr>
            <a:xfrm>
              <a:off x="7910460" y="2307935"/>
              <a:ext cx="25699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Eloquent Object Relational Mapping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ECD8937-B289-040C-0679-4919893F5BB1}"/>
              </a:ext>
            </a:extLst>
          </p:cNvPr>
          <p:cNvGrpSpPr/>
          <p:nvPr/>
        </p:nvGrpSpPr>
        <p:grpSpPr>
          <a:xfrm>
            <a:off x="7218322" y="3574248"/>
            <a:ext cx="3385516" cy="720000"/>
            <a:chOff x="7218322" y="3574248"/>
            <a:chExt cx="3385516" cy="72000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8090E27-959F-9CA0-84F7-382E3301220F}"/>
                </a:ext>
              </a:extLst>
            </p:cNvPr>
            <p:cNvSpPr/>
            <p:nvPr/>
          </p:nvSpPr>
          <p:spPr>
            <a:xfrm>
              <a:off x="7218322" y="3574248"/>
              <a:ext cx="3354847" cy="720000"/>
            </a:xfrm>
            <a:prstGeom prst="roundRect">
              <a:avLst>
                <a:gd name="adj" fmla="val 50000"/>
              </a:avLst>
            </a:prstGeom>
            <a:solidFill>
              <a:srgbClr val="17DCF1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0273F8-E509-1DE9-C0C4-8F5AA064DD23}"/>
                </a:ext>
              </a:extLst>
            </p:cNvPr>
            <p:cNvSpPr txBox="1"/>
            <p:nvPr/>
          </p:nvSpPr>
          <p:spPr>
            <a:xfrm>
              <a:off x="8032662" y="3670624"/>
              <a:ext cx="25711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dirty="0"/>
                <a:t>High-Level Security</a:t>
              </a:r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sz="1400" dirty="0"/>
                <a:t>Libraries &amp; Modular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3CF0496-F796-8238-B433-2F91DB6BF089}"/>
              </a:ext>
            </a:extLst>
          </p:cNvPr>
          <p:cNvGrpSpPr/>
          <p:nvPr/>
        </p:nvGrpSpPr>
        <p:grpSpPr>
          <a:xfrm>
            <a:off x="6302888" y="4943519"/>
            <a:ext cx="3361196" cy="720000"/>
            <a:chOff x="6302888" y="4943519"/>
            <a:chExt cx="3361196" cy="7200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8E913B5-F13C-B099-E772-A6C3DABD10CA}"/>
                </a:ext>
              </a:extLst>
            </p:cNvPr>
            <p:cNvSpPr/>
            <p:nvPr/>
          </p:nvSpPr>
          <p:spPr>
            <a:xfrm>
              <a:off x="6302888" y="4943519"/>
              <a:ext cx="3354847" cy="720000"/>
            </a:xfrm>
            <a:prstGeom prst="roundRect">
              <a:avLst>
                <a:gd name="adj" fmla="val 50000"/>
              </a:avLst>
            </a:prstGeom>
            <a:solidFill>
              <a:srgbClr val="E23826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EB4647-E714-C781-21CF-1CADC6A87945}"/>
                </a:ext>
              </a:extLst>
            </p:cNvPr>
            <p:cNvSpPr txBox="1"/>
            <p:nvPr/>
          </p:nvSpPr>
          <p:spPr>
            <a:xfrm>
              <a:off x="7022887" y="5019368"/>
              <a:ext cx="26411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Easy Tool Integration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bg1"/>
                  </a:solidFill>
                </a:rPr>
                <a:t>Database Migration System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4C031C2-8490-E270-18E1-BB5ECBFD8343}"/>
              </a:ext>
            </a:extLst>
          </p:cNvPr>
          <p:cNvGrpSpPr/>
          <p:nvPr/>
        </p:nvGrpSpPr>
        <p:grpSpPr>
          <a:xfrm>
            <a:off x="3522185" y="1102295"/>
            <a:ext cx="2622819" cy="406359"/>
            <a:chOff x="3522185" y="1102295"/>
            <a:chExt cx="2622819" cy="406359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EE53E44-84EA-B145-D429-F3669317F158}"/>
                </a:ext>
              </a:extLst>
            </p:cNvPr>
            <p:cNvCxnSpPr>
              <a:stCxn id="21" idx="2"/>
            </p:cNvCxnSpPr>
            <p:nvPr/>
          </p:nvCxnSpPr>
          <p:spPr>
            <a:xfrm flipH="1" flipV="1">
              <a:off x="3983256" y="1108634"/>
              <a:ext cx="2161748" cy="93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D75EC13-FE49-4D4D-4D5B-18BA9558C42D}"/>
                </a:ext>
              </a:extLst>
            </p:cNvPr>
            <p:cNvCxnSpPr>
              <a:endCxn id="12" idx="7"/>
            </p:cNvCxnSpPr>
            <p:nvPr/>
          </p:nvCxnSpPr>
          <p:spPr>
            <a:xfrm flipH="1">
              <a:off x="3522185" y="1102295"/>
              <a:ext cx="459476" cy="4063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1DE92E9-2122-3C1C-4D70-30B45EAA6601}"/>
              </a:ext>
            </a:extLst>
          </p:cNvPr>
          <p:cNvGrpSpPr/>
          <p:nvPr/>
        </p:nvGrpSpPr>
        <p:grpSpPr>
          <a:xfrm>
            <a:off x="4600335" y="2549102"/>
            <a:ext cx="2590125" cy="5189"/>
            <a:chOff x="4600335" y="2549102"/>
            <a:chExt cx="2590125" cy="5189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6F3A146-1890-86D4-2BF4-AF4290C5ADB0}"/>
                </a:ext>
              </a:extLst>
            </p:cNvPr>
            <p:cNvCxnSpPr>
              <a:stCxn id="22" idx="2"/>
            </p:cNvCxnSpPr>
            <p:nvPr/>
          </p:nvCxnSpPr>
          <p:spPr>
            <a:xfrm flipH="1">
              <a:off x="5194230" y="2549102"/>
              <a:ext cx="19962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75FE4DC-CE1A-DFE2-5FD5-B2B6602CF830}"/>
                </a:ext>
              </a:extLst>
            </p:cNvPr>
            <p:cNvCxnSpPr>
              <a:endCxn id="13" idx="6"/>
            </p:cNvCxnSpPr>
            <p:nvPr/>
          </p:nvCxnSpPr>
          <p:spPr>
            <a:xfrm flipH="1">
              <a:off x="4600335" y="2549102"/>
              <a:ext cx="593895" cy="51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5F204B5-0490-E90B-9B67-2F48DC6556FF}"/>
              </a:ext>
            </a:extLst>
          </p:cNvPr>
          <p:cNvGrpSpPr/>
          <p:nvPr/>
        </p:nvGrpSpPr>
        <p:grpSpPr>
          <a:xfrm>
            <a:off x="4721139" y="3932234"/>
            <a:ext cx="2499515" cy="2014"/>
            <a:chOff x="4721139" y="3932234"/>
            <a:chExt cx="2499515" cy="2014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28AD585-20C9-A19C-D93B-6209E6335550}"/>
                </a:ext>
              </a:extLst>
            </p:cNvPr>
            <p:cNvCxnSpPr>
              <a:stCxn id="23" idx="2"/>
            </p:cNvCxnSpPr>
            <p:nvPr/>
          </p:nvCxnSpPr>
          <p:spPr>
            <a:xfrm flipH="1">
              <a:off x="5299276" y="3932234"/>
              <a:ext cx="192137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C902E86-E5B0-F48B-F631-72C4F24B5353}"/>
                </a:ext>
              </a:extLst>
            </p:cNvPr>
            <p:cNvCxnSpPr>
              <a:endCxn id="14" idx="6"/>
            </p:cNvCxnSpPr>
            <p:nvPr/>
          </p:nvCxnSpPr>
          <p:spPr>
            <a:xfrm flipH="1">
              <a:off x="4721139" y="3932234"/>
              <a:ext cx="578137" cy="20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41EA307-D8E6-8FA8-9D13-5E5326404FE2}"/>
              </a:ext>
            </a:extLst>
          </p:cNvPr>
          <p:cNvGrpSpPr/>
          <p:nvPr/>
        </p:nvGrpSpPr>
        <p:grpSpPr>
          <a:xfrm>
            <a:off x="3833201" y="5158971"/>
            <a:ext cx="2463337" cy="143387"/>
            <a:chOff x="3833201" y="5158971"/>
            <a:chExt cx="2463337" cy="143387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69E8E1C-9953-708E-24DF-831CA6123B75}"/>
                </a:ext>
              </a:extLst>
            </p:cNvPr>
            <p:cNvCxnSpPr>
              <a:stCxn id="24" idx="2"/>
            </p:cNvCxnSpPr>
            <p:nvPr/>
          </p:nvCxnSpPr>
          <p:spPr>
            <a:xfrm flipH="1">
              <a:off x="4372579" y="5302358"/>
              <a:ext cx="19239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0643A38-8EEE-A4F2-EB1F-7A74C2CC728A}"/>
                </a:ext>
              </a:extLst>
            </p:cNvPr>
            <p:cNvCxnSpPr>
              <a:endCxn id="15" idx="5"/>
            </p:cNvCxnSpPr>
            <p:nvPr/>
          </p:nvCxnSpPr>
          <p:spPr>
            <a:xfrm flipH="1" flipV="1">
              <a:off x="3833201" y="5158971"/>
              <a:ext cx="539378" cy="143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09324D67-739F-EDA4-1678-B2B4E2E292EA}"/>
              </a:ext>
            </a:extLst>
          </p:cNvPr>
          <p:cNvSpPr/>
          <p:nvPr/>
        </p:nvSpPr>
        <p:spPr>
          <a:xfrm>
            <a:off x="3343323" y="1477966"/>
            <a:ext cx="209550" cy="209550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76A558-EC15-43D6-5587-026D28C0AD4C}"/>
              </a:ext>
            </a:extLst>
          </p:cNvPr>
          <p:cNvSpPr/>
          <p:nvPr/>
        </p:nvSpPr>
        <p:spPr>
          <a:xfrm>
            <a:off x="4390785" y="2449516"/>
            <a:ext cx="209550" cy="209550"/>
          </a:xfrm>
          <a:prstGeom prst="ellipse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59DF26-6B78-EE96-6196-986B918DCFBF}"/>
              </a:ext>
            </a:extLst>
          </p:cNvPr>
          <p:cNvSpPr/>
          <p:nvPr/>
        </p:nvSpPr>
        <p:spPr>
          <a:xfrm>
            <a:off x="4511589" y="3829473"/>
            <a:ext cx="209550" cy="209550"/>
          </a:xfrm>
          <a:prstGeom prst="ellipse">
            <a:avLst/>
          </a:prstGeom>
          <a:solidFill>
            <a:srgbClr val="17DCF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71B47A7-5D79-5EE9-C5DF-9149386B1437}"/>
              </a:ext>
            </a:extLst>
          </p:cNvPr>
          <p:cNvSpPr/>
          <p:nvPr/>
        </p:nvSpPr>
        <p:spPr>
          <a:xfrm>
            <a:off x="3654339" y="4980109"/>
            <a:ext cx="209550" cy="209550"/>
          </a:xfrm>
          <a:prstGeom prst="ellipse">
            <a:avLst/>
          </a:prstGeom>
          <a:solidFill>
            <a:srgbClr val="E23826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AD123F8-D5D8-6DEA-0CF2-B74CD3355E0B}"/>
              </a:ext>
            </a:extLst>
          </p:cNvPr>
          <p:cNvGrpSpPr/>
          <p:nvPr/>
        </p:nvGrpSpPr>
        <p:grpSpPr>
          <a:xfrm>
            <a:off x="1468965" y="2169000"/>
            <a:ext cx="2848680" cy="2520000"/>
            <a:chOff x="1468965" y="2169000"/>
            <a:chExt cx="2848680" cy="252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0A31E13-8097-07F0-73AF-779B325844D9}"/>
                </a:ext>
              </a:extLst>
            </p:cNvPr>
            <p:cNvSpPr/>
            <p:nvPr/>
          </p:nvSpPr>
          <p:spPr>
            <a:xfrm>
              <a:off x="1468965" y="2169000"/>
              <a:ext cx="2520000" cy="2520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76EA539-D51A-6477-ED25-5A154DA67C0D}"/>
                </a:ext>
              </a:extLst>
            </p:cNvPr>
            <p:cNvSpPr txBox="1"/>
            <p:nvPr/>
          </p:nvSpPr>
          <p:spPr>
            <a:xfrm>
              <a:off x="1625679" y="2806930"/>
              <a:ext cx="2363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Features of PHP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20C1D8-DC72-3B7C-786A-2C9668E67CEA}"/>
                </a:ext>
              </a:extLst>
            </p:cNvPr>
            <p:cNvSpPr txBox="1"/>
            <p:nvPr/>
          </p:nvSpPr>
          <p:spPr>
            <a:xfrm>
              <a:off x="2003024" y="3111763"/>
              <a:ext cx="23146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>
                  <a:solidFill>
                    <a:srgbClr val="F12317"/>
                  </a:solidFill>
                </a:rPr>
                <a:t>Laravel</a:t>
              </a:r>
              <a:endParaRPr lang="en-US" sz="1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4036714-70C8-EF20-207F-FAD7C4EE5DA2}"/>
                </a:ext>
              </a:extLst>
            </p:cNvPr>
            <p:cNvSpPr txBox="1"/>
            <p:nvPr/>
          </p:nvSpPr>
          <p:spPr>
            <a:xfrm>
              <a:off x="1812059" y="3804190"/>
              <a:ext cx="23632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Framework</a:t>
              </a: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26563AF7-C222-606E-20B9-57525BE261F4}"/>
              </a:ext>
            </a:extLst>
          </p:cNvPr>
          <p:cNvSpPr/>
          <p:nvPr/>
        </p:nvSpPr>
        <p:spPr>
          <a:xfrm>
            <a:off x="6145004" y="757966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17328A-8173-A59B-7110-408E5A23E762}"/>
              </a:ext>
            </a:extLst>
          </p:cNvPr>
          <p:cNvSpPr/>
          <p:nvPr/>
        </p:nvSpPr>
        <p:spPr>
          <a:xfrm>
            <a:off x="7190460" y="2189102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03EA616-ECA5-5145-86E7-D0ECAA48E4E8}"/>
              </a:ext>
            </a:extLst>
          </p:cNvPr>
          <p:cNvSpPr/>
          <p:nvPr/>
        </p:nvSpPr>
        <p:spPr>
          <a:xfrm>
            <a:off x="7220654" y="3572234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1064A0-BEB1-CEED-5E51-9C2720768536}"/>
              </a:ext>
            </a:extLst>
          </p:cNvPr>
          <p:cNvSpPr/>
          <p:nvPr/>
        </p:nvSpPr>
        <p:spPr>
          <a:xfrm>
            <a:off x="6296538" y="4942358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47B12-5F20-16C6-86C4-F7BFD8B24F94}"/>
              </a:ext>
            </a:extLst>
          </p:cNvPr>
          <p:cNvSpPr txBox="1"/>
          <p:nvPr/>
        </p:nvSpPr>
        <p:spPr>
          <a:xfrm>
            <a:off x="448235" y="6418729"/>
            <a:ext cx="3533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https://www.youtube.com/watch?v=jDScsOFi4G4</a:t>
            </a:r>
          </a:p>
        </p:txBody>
      </p:sp>
      <p:pic>
        <p:nvPicPr>
          <p:cNvPr id="9" name="Content Placeholder 15">
            <a:extLst>
              <a:ext uri="{FF2B5EF4-FFF2-40B4-BE49-F238E27FC236}">
                <a16:creationId xmlns:a16="http://schemas.microsoft.com/office/drawing/2014/main" id="{A5172216-E4A6-F132-5A85-DBE7CF55D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1719" y="3085198"/>
            <a:ext cx="1184909" cy="78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28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7B5DB-66AA-549B-D7A1-9CF7F21C1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67D4001-F310-6EA0-0D25-73ADADCA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Tools for start with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070E-6D3A-B2CF-F9E2-DCC373495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940878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PHP AND composer(we can use Herd)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Laravel package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can use any OS (Windows, Mac, Linux)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52A385-7CC9-9243-A733-B9D259D74EC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5739626" y="3742539"/>
            <a:ext cx="1738467" cy="210938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1C11BB-B033-5952-4754-EF29730CD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028" y="4317144"/>
            <a:ext cx="2586768" cy="13968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236DB1-EDAA-0743-B6A6-F00054E115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742" r="17477" b="20437"/>
          <a:stretch>
            <a:fillRect/>
          </a:stretch>
        </p:blipFill>
        <p:spPr>
          <a:xfrm>
            <a:off x="7820994" y="3880461"/>
            <a:ext cx="2056194" cy="1902823"/>
          </a:xfrm>
          <a:prstGeom prst="rect">
            <a:avLst/>
          </a:prstGeom>
        </p:spPr>
      </p:pic>
      <p:pic>
        <p:nvPicPr>
          <p:cNvPr id="13" name="Content Placeholder 15">
            <a:extLst>
              <a:ext uri="{FF2B5EF4-FFF2-40B4-BE49-F238E27FC236}">
                <a16:creationId xmlns:a16="http://schemas.microsoft.com/office/drawing/2014/main" id="{5C258B4A-7CD8-7E36-5E34-174E0372B1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45512" y="3375140"/>
            <a:ext cx="4370196" cy="29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5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used PHP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Large community.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Regular update.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lot of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Open-Source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Supports Popular Database Engines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Migrations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command line is awesome.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EA214-A3E7-7154-0C56-5E155C7216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271" t="11398" r="11326" b="9447"/>
          <a:stretch/>
        </p:blipFill>
        <p:spPr>
          <a:xfrm>
            <a:off x="6808982" y="1789897"/>
            <a:ext cx="4663440" cy="281981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AA74DD7-177E-7389-B1B5-ABAD4D7B18A8}"/>
              </a:ext>
            </a:extLst>
          </p:cNvPr>
          <p:cNvSpPr/>
          <p:nvPr/>
        </p:nvSpPr>
        <p:spPr>
          <a:xfrm>
            <a:off x="8323868" y="1951348"/>
            <a:ext cx="707009" cy="721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E21CF5B-DFD9-44D5-4558-5F21796F276E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9347" y="1928523"/>
            <a:ext cx="1184909" cy="789939"/>
          </a:xfrm>
        </p:spPr>
      </p:pic>
    </p:spTree>
    <p:extLst>
      <p:ext uri="{BB962C8B-B14F-4D97-AF65-F5344CB8AC3E}">
        <p14:creationId xmlns:p14="http://schemas.microsoft.com/office/powerpoint/2010/main" val="3795670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Create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  <a:r>
              <a:rPr lang="en-US" dirty="0"/>
              <a:t>       App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Install XAMPP for PHP, MySQL, and </a:t>
            </a:r>
            <a:r>
              <a:rPr lang="en-US" dirty="0" err="1"/>
              <a:t>PHPMyAdmin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Install Composer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Install Laravel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Laravel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App is running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Laravel Version</a:t>
            </a:r>
          </a:p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21BA992-4F1B-0418-DBCF-D68C1CE0E5B5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 rotWithShape="1">
          <a:blip r:embed="rId3"/>
          <a:srcRect b="13916"/>
          <a:stretch/>
        </p:blipFill>
        <p:spPr>
          <a:xfrm>
            <a:off x="6949281" y="2024063"/>
            <a:ext cx="3332162" cy="2868448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44754F4-AF73-3302-F817-94BF5F7D6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464" y="1108267"/>
            <a:ext cx="853632" cy="59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97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XAMPP and composer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Xampp</a:t>
            </a:r>
            <a:r>
              <a:rPr lang="en-US" dirty="0"/>
              <a:t> is a tool that installs PHP, MySQL quicky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Composer is a package management tool in PHP that A helps manage libraries by automatically installing and updating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 with Composer we can install </a:t>
            </a:r>
            <a:r>
              <a:rPr lang="en-US" dirty="0" err="1"/>
              <a:t>laravel</a:t>
            </a:r>
            <a:r>
              <a:rPr lang="en-US" dirty="0"/>
              <a:t> easy and update </a:t>
            </a:r>
            <a:r>
              <a:rPr lang="en-US" dirty="0" err="1"/>
              <a:t>laravel</a:t>
            </a:r>
            <a:r>
              <a:rPr lang="en-US" dirty="0"/>
              <a:t> easily.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E18923-2880-02CD-6152-EADFE200916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804096" y="1055544"/>
            <a:ext cx="1653372" cy="165337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BDD05B2-BF45-8AD2-6154-E5C2587F9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4096" y="3247433"/>
            <a:ext cx="1738467" cy="21093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7B65A7-29F5-29AA-700B-4A4A323E6C9B}"/>
              </a:ext>
            </a:extLst>
          </p:cNvPr>
          <p:cNvSpPr txBox="1"/>
          <p:nvPr/>
        </p:nvSpPr>
        <p:spPr>
          <a:xfrm>
            <a:off x="8075905" y="2636874"/>
            <a:ext cx="1194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XAMPP</a:t>
            </a:r>
          </a:p>
        </p:txBody>
      </p:sp>
    </p:spTree>
    <p:extLst>
      <p:ext uri="{BB962C8B-B14F-4D97-AF65-F5344CB8AC3E}">
        <p14:creationId xmlns:p14="http://schemas.microsoft.com/office/powerpoint/2010/main" val="345784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B4263E-A2F8-BB9C-A2BB-17F4804D3F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730" y="619328"/>
            <a:ext cx="3080320" cy="154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What is MVC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41767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MVC is a Software design pattern to develop reliable software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MVC we divide applications in three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Models</a:t>
            </a:r>
            <a:r>
              <a:rPr lang="en-US" dirty="0"/>
              <a:t>: Write Business logic, database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View</a:t>
            </a:r>
            <a:r>
              <a:rPr lang="en-US" dirty="0"/>
              <a:t>: User interface (Code we write to display on UI)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Controller</a:t>
            </a:r>
            <a:r>
              <a:rPr lang="en-US" dirty="0"/>
              <a:t>: Handle user interaction and select a view to render, communicate Model and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6F069-280B-48B9-E3E1-AAF50685E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54" t="24155" r="6790" b="2667"/>
          <a:stretch>
            <a:fillRect/>
          </a:stretch>
        </p:blipFill>
        <p:spPr>
          <a:xfrm>
            <a:off x="5700270" y="2537881"/>
            <a:ext cx="5585241" cy="2999278"/>
          </a:xfrm>
          <a:prstGeom prst="rect">
            <a:avLst/>
          </a:prstGeom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69E37565-CAB5-E6F3-8577-0494A53507EA}"/>
              </a:ext>
            </a:extLst>
          </p:cNvPr>
          <p:cNvSpPr txBox="1">
            <a:spLocks/>
          </p:cNvSpPr>
          <p:nvPr/>
        </p:nvSpPr>
        <p:spPr>
          <a:xfrm>
            <a:off x="7054074" y="2044064"/>
            <a:ext cx="2744281" cy="4938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solidFill>
                  <a:srgbClr val="F12317"/>
                </a:solidFill>
              </a:rPr>
              <a:t>Laravel </a:t>
            </a:r>
            <a:r>
              <a:rPr lang="en-US" sz="1800" dirty="0"/>
              <a:t>MVC Architecture</a:t>
            </a:r>
            <a:endParaRPr lang="en-US" sz="1800" dirty="0">
              <a:solidFill>
                <a:srgbClr val="F123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46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F6F069-280B-48B9-E3E1-AAF50685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7" r="847"/>
          <a:stretch/>
        </p:blipFill>
        <p:spPr>
          <a:xfrm>
            <a:off x="1001429" y="755594"/>
            <a:ext cx="8799796" cy="5027144"/>
          </a:xfrm>
          <a:prstGeom prst="rect">
            <a:avLst/>
          </a:prstGeom>
          <a:ln>
            <a:solidFill>
              <a:srgbClr val="FFB901"/>
            </a:solidFill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AD2CCEDA-0BB4-A68B-0179-4B47128640A5}"/>
              </a:ext>
            </a:extLst>
          </p:cNvPr>
          <p:cNvGrpSpPr/>
          <p:nvPr/>
        </p:nvGrpSpPr>
        <p:grpSpPr>
          <a:xfrm flipH="1">
            <a:off x="6379558" y="1705761"/>
            <a:ext cx="2837368" cy="962025"/>
            <a:chOff x="6443156" y="1600400"/>
            <a:chExt cx="2837368" cy="96202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49CD9C0-CC44-54AC-DC16-8D87B94EE67D}"/>
                </a:ext>
              </a:extLst>
            </p:cNvPr>
            <p:cNvSpPr/>
            <p:nvPr/>
          </p:nvSpPr>
          <p:spPr>
            <a:xfrm>
              <a:off x="6443156" y="1600400"/>
              <a:ext cx="2837368" cy="962025"/>
            </a:xfrm>
            <a:prstGeom prst="roundRect">
              <a:avLst>
                <a:gd name="adj" fmla="val 50000"/>
              </a:avLst>
            </a:prstGeom>
            <a:solidFill>
              <a:srgbClr val="FFB90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1249E2A-4926-266E-805D-AD983322C919}"/>
                </a:ext>
              </a:extLst>
            </p:cNvPr>
            <p:cNvGrpSpPr/>
            <p:nvPr/>
          </p:nvGrpSpPr>
          <p:grpSpPr>
            <a:xfrm>
              <a:off x="8348344" y="1647072"/>
              <a:ext cx="868680" cy="868680"/>
              <a:chOff x="725863" y="1134145"/>
              <a:chExt cx="868680" cy="86868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FBED23E8-2181-F7AC-EE45-671BAC82FCEF}"/>
                  </a:ext>
                </a:extLst>
              </p:cNvPr>
              <p:cNvSpPr/>
              <p:nvPr/>
            </p:nvSpPr>
            <p:spPr>
              <a:xfrm>
                <a:off x="725863" y="1134145"/>
                <a:ext cx="868680" cy="86868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7995804-9F8C-4830-C5B2-81172359B3F7}"/>
                  </a:ext>
                </a:extLst>
              </p:cNvPr>
              <p:cNvSpPr/>
              <p:nvPr/>
            </p:nvSpPr>
            <p:spPr>
              <a:xfrm>
                <a:off x="840163" y="1248445"/>
                <a:ext cx="640080" cy="640080"/>
              </a:xfrm>
              <a:prstGeom prst="ellipse">
                <a:avLst/>
              </a:prstGeom>
              <a:solidFill>
                <a:srgbClr val="FFB90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1146BB-81C1-E6DB-26E1-3C6CF760099B}"/>
              </a:ext>
            </a:extLst>
          </p:cNvPr>
          <p:cNvGrpSpPr/>
          <p:nvPr/>
        </p:nvGrpSpPr>
        <p:grpSpPr>
          <a:xfrm>
            <a:off x="1885512" y="1028590"/>
            <a:ext cx="2837368" cy="962025"/>
            <a:chOff x="1284553" y="1862137"/>
            <a:chExt cx="2837368" cy="96202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CD1EDA-1176-6709-6578-F8B8676F8B9D}"/>
                </a:ext>
              </a:extLst>
            </p:cNvPr>
            <p:cNvGrpSpPr/>
            <p:nvPr/>
          </p:nvGrpSpPr>
          <p:grpSpPr>
            <a:xfrm>
              <a:off x="1284553" y="1862137"/>
              <a:ext cx="2837368" cy="962025"/>
              <a:chOff x="2029906" y="1152129"/>
              <a:chExt cx="2837368" cy="96202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D6F04E2B-0CEA-77CB-BF14-4835B86BCDB0}"/>
                  </a:ext>
                </a:extLst>
              </p:cNvPr>
              <p:cNvSpPr/>
              <p:nvPr/>
            </p:nvSpPr>
            <p:spPr>
              <a:xfrm>
                <a:off x="2029906" y="1152129"/>
                <a:ext cx="2837368" cy="962025"/>
              </a:xfrm>
              <a:prstGeom prst="roundRect">
                <a:avLst>
                  <a:gd name="adj" fmla="val 50000"/>
                </a:avLst>
              </a:prstGeom>
              <a:solidFill>
                <a:srgbClr val="016682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47EBE0E6-6C82-317D-3FD7-3589D6B4C54F}"/>
                  </a:ext>
                </a:extLst>
              </p:cNvPr>
              <p:cNvGrpSpPr/>
              <p:nvPr/>
            </p:nvGrpSpPr>
            <p:grpSpPr>
              <a:xfrm>
                <a:off x="3935094" y="1198801"/>
                <a:ext cx="868680" cy="868680"/>
                <a:chOff x="725863" y="1134145"/>
                <a:chExt cx="868680" cy="86868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A31ED38-F39D-E3E0-16EC-7354BFB22552}"/>
                    </a:ext>
                  </a:extLst>
                </p:cNvPr>
                <p:cNvSpPr/>
                <p:nvPr/>
              </p:nvSpPr>
              <p:spPr>
                <a:xfrm>
                  <a:off x="725863" y="1134145"/>
                  <a:ext cx="868680" cy="8686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4704125-7E19-F7C3-AF97-6442853618CF}"/>
                    </a:ext>
                  </a:extLst>
                </p:cNvPr>
                <p:cNvSpPr/>
                <p:nvPr/>
              </p:nvSpPr>
              <p:spPr>
                <a:xfrm>
                  <a:off x="840163" y="1248445"/>
                  <a:ext cx="640080" cy="640080"/>
                </a:xfrm>
                <a:prstGeom prst="ellipse">
                  <a:avLst/>
                </a:prstGeom>
                <a:solidFill>
                  <a:srgbClr val="016682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35" name="Graphic 34" descr="Group brainstorm with solid fill">
              <a:extLst>
                <a:ext uri="{FF2B5EF4-FFF2-40B4-BE49-F238E27FC236}">
                  <a16:creationId xmlns:a16="http://schemas.microsoft.com/office/drawing/2014/main" id="{18A21D79-55B0-B81A-27D7-DE99CB5E2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60576" y="2079209"/>
              <a:ext cx="527010" cy="527010"/>
            </a:xfrm>
            <a:prstGeom prst="rect">
              <a:avLst/>
            </a:prstGeom>
          </p:spPr>
        </p:pic>
      </p:grpSp>
      <p:pic>
        <p:nvPicPr>
          <p:cNvPr id="38" name="Graphic 37" descr="Social network with solid fill">
            <a:extLst>
              <a:ext uri="{FF2B5EF4-FFF2-40B4-BE49-F238E27FC236}">
                <a16:creationId xmlns:a16="http://schemas.microsoft.com/office/drawing/2014/main" id="{1534701B-D6FD-467C-012D-9453A17D1A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3058" y="5152239"/>
            <a:ext cx="632388" cy="632388"/>
          </a:xfrm>
          <a:prstGeom prst="rect">
            <a:avLst/>
          </a:prstGeom>
        </p:spPr>
      </p:pic>
      <p:pic>
        <p:nvPicPr>
          <p:cNvPr id="40" name="Graphic 39" descr="Ribbon with solid fill">
            <a:extLst>
              <a:ext uri="{FF2B5EF4-FFF2-40B4-BE49-F238E27FC236}">
                <a16:creationId xmlns:a16="http://schemas.microsoft.com/office/drawing/2014/main" id="{7CC4067F-CA2B-7EC3-A6FB-5E3A73F6DE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4325" y="3629025"/>
            <a:ext cx="704850" cy="704850"/>
          </a:xfrm>
          <a:prstGeom prst="rect">
            <a:avLst/>
          </a:prstGeom>
        </p:spPr>
      </p:pic>
      <p:pic>
        <p:nvPicPr>
          <p:cNvPr id="42" name="Graphic 41" descr="Venn diagram with solid fill">
            <a:extLst>
              <a:ext uri="{FF2B5EF4-FFF2-40B4-BE49-F238E27FC236}">
                <a16:creationId xmlns:a16="http://schemas.microsoft.com/office/drawing/2014/main" id="{C3ABC3F3-2B77-1C1B-2363-C366D858C6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64568" y="1866733"/>
            <a:ext cx="64008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9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US" dirty="0"/>
              <a:t>File and Folder Structure &amp; Create File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Important file and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Where we create MVC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Basics of all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First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First File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4C4532A-5412-662F-9A23-1A393FCB2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809820" y="1296779"/>
            <a:ext cx="3248330" cy="5262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096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Routing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803578" cy="469749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Open View with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data with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Anchor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Redirect with routing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Routing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Routing is a path for opening a webpage.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 URL for opening å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www.test.com/welcome.php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welcome.blade.php</a:t>
            </a:r>
            <a:r>
              <a:rPr lang="en-US" dirty="0"/>
              <a:t> we can open it with any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http://localhost:8000/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http://localhost:8000/welcome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http://localhost:8000/anything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9751C7-F764-8ED2-FEF0-5908FFE400C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5832475" y="1789897"/>
            <a:ext cx="5689600" cy="3079237"/>
          </a:xfrm>
        </p:spPr>
      </p:pic>
    </p:spTree>
    <p:extLst>
      <p:ext uri="{BB962C8B-B14F-4D97-AF65-F5344CB8AC3E}">
        <p14:creationId xmlns:p14="http://schemas.microsoft.com/office/powerpoint/2010/main" val="323446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18300-8CDB-BCCF-C729-C973F358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7CF8648-FC3E-843A-EE65-CF87FE3F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Routing Methods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FF6A4-AB4A-25FF-BE67-7EF7CED8E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803578" cy="284515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Route::get($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Route::post($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Route::put($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Route::patch($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Route::delete($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Route::options($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193626FA-78DD-883D-5BDA-5181513C6D7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5437239" y="2029158"/>
            <a:ext cx="6460316" cy="2599267"/>
          </a:xfrm>
        </p:spPr>
      </p:pic>
    </p:spTree>
    <p:extLst>
      <p:ext uri="{BB962C8B-B14F-4D97-AF65-F5344CB8AC3E}">
        <p14:creationId xmlns:p14="http://schemas.microsoft.com/office/powerpoint/2010/main" val="1974583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97C21-0947-55E7-A94A-27A01DF53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E39CA9-8CAA-3D9D-9F17-B225CF4E8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Controller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EF872-D3DC-B254-74A6-75C274CD4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7042443" cy="48180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controller with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data from router to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view with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view which is under a nested folder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Controller comes under MVC architecture.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Controller handles requests from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Handle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can say that:- the controller is a central unit that handles user request, model and views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99F314-1D9F-5F10-FB99-2C160F496B75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9" b="9"/>
          <a:stretch/>
        </p:blipFill>
        <p:spPr>
          <a:xfrm>
            <a:off x="6216720" y="1591389"/>
            <a:ext cx="5491382" cy="3675221"/>
          </a:xfrm>
          <a:prstGeom prst="snip2DiagRect">
            <a:avLst>
              <a:gd name="adj1" fmla="val 0"/>
              <a:gd name="adj2" fmla="val 12386"/>
            </a:avLst>
          </a:prstGeom>
        </p:spPr>
      </p:pic>
    </p:spTree>
    <p:extLst>
      <p:ext uri="{BB962C8B-B14F-4D97-AF65-F5344CB8AC3E}">
        <p14:creationId xmlns:p14="http://schemas.microsoft.com/office/powerpoint/2010/main" val="71576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DACEA-DB7A-F6DB-F3B8-21C8F71A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C20C72E-5A44-01DB-AE08-46C62C0DD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View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9B2D-4BD1-3A80-37C3-0B766C79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7042443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view with command 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view from route and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nested view and call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data in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know view exist or not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DE845F-B292-3B4E-547F-801B572A5B5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t="9" b="9"/>
          <a:stretch/>
        </p:blipFill>
        <p:spPr>
          <a:xfrm>
            <a:off x="6096000" y="1392883"/>
            <a:ext cx="5491382" cy="3675221"/>
          </a:xfrm>
          <a:prstGeom prst="snip2DiagRect">
            <a:avLst>
              <a:gd name="adj1" fmla="val 0"/>
              <a:gd name="adj2" fmla="val 12386"/>
            </a:avLst>
          </a:prstGeom>
        </p:spPr>
      </p:pic>
    </p:spTree>
    <p:extLst>
      <p:ext uri="{BB962C8B-B14F-4D97-AF65-F5344CB8AC3E}">
        <p14:creationId xmlns:p14="http://schemas.microsoft.com/office/powerpoint/2010/main" val="89412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92272-3A71-8C25-8AED-EB1CF991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AA2B5D-F9E6-3E6B-89A8-1C99D051781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2628416" y="4102775"/>
            <a:ext cx="3467584" cy="2657846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BC5C461-3B54-F64A-C096-57FFA418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Blade Template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F54ED-8FEA-F5BA-2343-AA69A1215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864780"/>
            <a:ext cx="4663440" cy="3332832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Blade Template in Laravel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blade template?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do we need blade template?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Expression of blade template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Execute functions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else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For loop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Forearch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F89D003-846C-9BAB-BF49-AC78A4B23C7F}"/>
              </a:ext>
            </a:extLst>
          </p:cNvPr>
          <p:cNvSpPr txBox="1">
            <a:spLocks/>
          </p:cNvSpPr>
          <p:nvPr/>
        </p:nvSpPr>
        <p:spPr>
          <a:xfrm>
            <a:off x="5365867" y="1864780"/>
            <a:ext cx="6255862" cy="3492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Blade is a simple, yet powerful templating engine for executing PHP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included in the Laravel framework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template engine is a module or tool for executing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can write PHP tags also in the blade template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 use blade template view should end with the .</a:t>
            </a:r>
            <a:r>
              <a:rPr lang="en-US" dirty="0" err="1"/>
              <a:t>blade.php</a:t>
            </a:r>
            <a:r>
              <a:rPr lang="en-US" dirty="0"/>
              <a:t> extension</a:t>
            </a:r>
          </a:p>
        </p:txBody>
      </p:sp>
    </p:spTree>
    <p:extLst>
      <p:ext uri="{BB962C8B-B14F-4D97-AF65-F5344CB8AC3E}">
        <p14:creationId xmlns:p14="http://schemas.microsoft.com/office/powerpoint/2010/main" val="3417392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17BB-E7DE-7A95-FFC1-B2F74109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87D5C7-37C0-0C67-A967-E835ABA1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Including Sub Views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1AA16-44B8-426D-9BAC-D57FC310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864780"/>
            <a:ext cx="4663440" cy="33328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</a:t>
            </a:r>
            <a:r>
              <a:rPr lang="en-US" dirty="0" err="1"/>
              <a:t>subview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sub views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subview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data from view to </a:t>
            </a:r>
            <a:r>
              <a:rPr lang="en-US" dirty="0" err="1"/>
              <a:t>subview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if sub view exists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11B38A-8635-0DF6-E973-B1AEBF98EAC8}"/>
              </a:ext>
            </a:extLst>
          </p:cNvPr>
          <p:cNvSpPr/>
          <p:nvPr/>
        </p:nvSpPr>
        <p:spPr>
          <a:xfrm>
            <a:off x="6538452" y="2812026"/>
            <a:ext cx="1858296" cy="160265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Home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7F83A8-4420-9E44-CDDE-0CCD61432CC0}"/>
              </a:ext>
            </a:extLst>
          </p:cNvPr>
          <p:cNvSpPr/>
          <p:nvPr/>
        </p:nvSpPr>
        <p:spPr>
          <a:xfrm>
            <a:off x="9724103" y="3116826"/>
            <a:ext cx="1300404" cy="1101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Common View </a:t>
            </a:r>
          </a:p>
          <a:p>
            <a:pPr algn="ctr"/>
            <a:r>
              <a:rPr lang="en-US" dirty="0"/>
              <a:t>(Header)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503A17-B283-4CE8-CD87-3886B2B64865}"/>
              </a:ext>
            </a:extLst>
          </p:cNvPr>
          <p:cNvSpPr txBox="1"/>
          <p:nvPr/>
        </p:nvSpPr>
        <p:spPr>
          <a:xfrm>
            <a:off x="8634202" y="3116826"/>
            <a:ext cx="92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882FF-8786-22E0-513A-29AD74527E2B}"/>
              </a:ext>
            </a:extLst>
          </p:cNvPr>
          <p:cNvSpPr txBox="1"/>
          <p:nvPr/>
        </p:nvSpPr>
        <p:spPr>
          <a:xfrm>
            <a:off x="9795888" y="4267460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 view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0986B8-3458-0F94-B051-E8D6077BB5A5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8396748" y="3667432"/>
            <a:ext cx="1327355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908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670E-9A0C-C906-30E8-FB7A79C9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D7F784-98D0-D677-BE36-F69C84CE5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Component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E76AE-BA0B-31AC-7A2A-E99D3885E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5"/>
            <a:ext cx="492850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pass data in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 of component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0EB2E-AB22-3F56-F89A-51B97C8E6F8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piece of code that can reuse in our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Like a function is written once can reuse again and again.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 can make a component and reuse it again and again.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Component can be reused in the same file as well as different files also.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A485ED-B187-9830-EA59-2E2219FB6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386" y="4170380"/>
            <a:ext cx="2546264" cy="205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34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7CE0-8D75-BFB0-4600-EAC516A2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0DEAD3-CAC9-FC7E-A82E-4E9E58863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Form and input fields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597A-1D58-F241-DADD-8CE04A16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7042443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View and its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form and input fields.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checkbox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Radio button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Dropdown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controller and get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form submit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form input field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F0BCEB1-C921-13D8-7D96-9E75486D3935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2346490"/>
            <a:ext cx="4664075" cy="2687308"/>
          </a:xfrm>
        </p:spPr>
      </p:pic>
    </p:spTree>
    <p:extLst>
      <p:ext uri="{BB962C8B-B14F-4D97-AF65-F5344CB8AC3E}">
        <p14:creationId xmlns:p14="http://schemas.microsoft.com/office/powerpoint/2010/main" val="10171093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06D0F-FFC9-7E76-95E0-F59DD972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C9A47E-6B37-8143-81D0-A4B9AB37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Form Validation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5C988-AE37-587D-5FEC-AEDE512E5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7042443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validation for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validation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validation with input fields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a custom error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old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Change input color if invalid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Publish validation message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Own Validation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the Validation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custom rule, Apply custom rule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custom rule message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BFEF86-3640-CE24-E293-5044D4642ECB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2346490"/>
            <a:ext cx="4664075" cy="2687308"/>
          </a:xfrm>
        </p:spPr>
      </p:pic>
    </p:spTree>
    <p:extLst>
      <p:ext uri="{BB962C8B-B14F-4D97-AF65-F5344CB8AC3E}">
        <p14:creationId xmlns:p14="http://schemas.microsoft.com/office/powerpoint/2010/main" val="3703177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A111-DD37-9ED4-7D29-09598D64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23AF09-E58D-5B2A-A7D3-369AD63CB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URL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8BED0-37AC-DE08-2643-96FA69241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7042443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URL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current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full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the previous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link 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URL with child path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F47BD-28B3-2117-DA32-9808D5B1270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32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B4892-863E-AC8C-3416-E7336C160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D9C2E6-BC20-5FA9-D8FC-93CBDFD8E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Named Routes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31C7-D0D8-1407-5A83-96C168178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5"/>
            <a:ext cx="5115742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Named Routes?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make a named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the named route from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name route from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pass params in named route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313AA-E15F-69A1-6D46-75EBC2B1D4E8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07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C4FDC-7D59-EA5F-B929-B3EA5C1C2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FA1B55A-7D91-59D7-283D-005113EF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Route Group with prefix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5E465-4197-1FC9-C22D-D9897FB3E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7809359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Route grouping with prefix?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Some Routes for view and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Groups of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 Route::view('student/home', 'home');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 Route::get('student/show', [</a:t>
            </a:r>
            <a:r>
              <a:rPr lang="en-US" dirty="0" err="1"/>
              <a:t>HomeController</a:t>
            </a:r>
            <a:r>
              <a:rPr lang="en-US" dirty="0"/>
              <a:t>::class, 'show']);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 Route::get('student/save', [</a:t>
            </a:r>
            <a:r>
              <a:rPr lang="en-US" dirty="0" err="1"/>
              <a:t>HomeController</a:t>
            </a:r>
            <a:r>
              <a:rPr lang="en-US" dirty="0"/>
              <a:t>::class, 'save']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D562AD-F409-9E23-A486-EDC8ADCA757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770373" y="2023984"/>
            <a:ext cx="2176301" cy="333283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509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05204-AF1B-0774-0B96-7D3CF5B67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A4BEDF-4361-ABAC-444F-A8F039FDD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Route Group with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DDBA9-B8DD-E367-6386-5916A0AB0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5"/>
            <a:ext cx="7435734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Route grouping with controller?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Some Routes for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Route Groups of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 Route::get('show', (</a:t>
            </a:r>
            <a:r>
              <a:rPr lang="en-US" dirty="0" err="1"/>
              <a:t>HomeController</a:t>
            </a:r>
            <a:r>
              <a:rPr lang="en-US" dirty="0"/>
              <a:t>::class, 'show']);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 Route::get('add', (</a:t>
            </a:r>
            <a:r>
              <a:rPr lang="en-US" dirty="0" err="1"/>
              <a:t>HomeController</a:t>
            </a:r>
            <a:r>
              <a:rPr lang="en-US" dirty="0"/>
              <a:t>::class, 'add']);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3 Route::get('about/{name}', [</a:t>
            </a:r>
            <a:r>
              <a:rPr lang="en-US" dirty="0" err="1"/>
              <a:t>HomeController</a:t>
            </a:r>
            <a:r>
              <a:rPr lang="en-US" dirty="0"/>
              <a:t>::class, 'about']);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DBB696-14C4-957E-DD12-D9CE9ACF24B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770373" y="2023984"/>
            <a:ext cx="2176301" cy="333283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837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5BA4-7C8A-D18C-E04D-DE7961C41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124F69-4BCE-E889-1E2E-A62EDEB58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Middleware in </a:t>
            </a:r>
            <a:r>
              <a:rPr lang="en-US" dirty="0" err="1">
                <a:solidFill>
                  <a:srgbClr val="FF0000"/>
                </a:solidFill>
              </a:rPr>
              <a:t>LaravelZ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6676C-683A-DC0D-F3C4-1371698EB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4151759" cy="469748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Middleware?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Type of middleware.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Filter request with middleware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C0AA5E-4AF4-6FF6-739A-853757CD773C}"/>
              </a:ext>
            </a:extLst>
          </p:cNvPr>
          <p:cNvSpPr txBox="1">
            <a:spLocks/>
          </p:cNvSpPr>
          <p:nvPr/>
        </p:nvSpPr>
        <p:spPr>
          <a:xfrm>
            <a:off x="5778822" y="2023984"/>
            <a:ext cx="6285359" cy="4834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0392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3856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Middleware is a layer between the user and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Here we can check conditions or filter user requests.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condition pass request will reach to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Type of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Group Middleware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FC76701-8BB0-A7D6-D647-3BDE900F6F81}"/>
              </a:ext>
            </a:extLst>
          </p:cNvPr>
          <p:cNvGrpSpPr/>
          <p:nvPr/>
        </p:nvGrpSpPr>
        <p:grpSpPr>
          <a:xfrm>
            <a:off x="4235156" y="4070555"/>
            <a:ext cx="1543666" cy="2650918"/>
            <a:chOff x="5692876" y="3864077"/>
            <a:chExt cx="1543666" cy="28573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08028B5-EAFA-9B02-E14B-B303E26BD693}"/>
                </a:ext>
              </a:extLst>
            </p:cNvPr>
            <p:cNvSpPr/>
            <p:nvPr/>
          </p:nvSpPr>
          <p:spPr>
            <a:xfrm>
              <a:off x="5692876" y="3864077"/>
              <a:ext cx="1543666" cy="698092"/>
            </a:xfrm>
            <a:prstGeom prst="rect">
              <a:avLst/>
            </a:prstGeom>
            <a:solidFill>
              <a:srgbClr val="FFB90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EA3BFD-758B-9D00-1D47-6DD9E78F8CAA}"/>
                </a:ext>
              </a:extLst>
            </p:cNvPr>
            <p:cNvSpPr/>
            <p:nvPr/>
          </p:nvSpPr>
          <p:spPr>
            <a:xfrm>
              <a:off x="5692876" y="4943729"/>
              <a:ext cx="1543666" cy="698092"/>
            </a:xfrm>
            <a:prstGeom prst="rect">
              <a:avLst/>
            </a:prstGeom>
            <a:solidFill>
              <a:srgbClr val="7030A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94F357-603E-C484-F7A8-BCF52A9CAE4F}"/>
                </a:ext>
              </a:extLst>
            </p:cNvPr>
            <p:cNvSpPr/>
            <p:nvPr/>
          </p:nvSpPr>
          <p:spPr>
            <a:xfrm>
              <a:off x="5692876" y="6023381"/>
              <a:ext cx="1543666" cy="698092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Control/View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8BFE671-E1CF-4430-F7FC-4EAC46206722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6464709" y="4562169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2FD9AE7-6E0D-1494-17A8-475DE62D5DFC}"/>
                </a:ext>
              </a:extLst>
            </p:cNvPr>
            <p:cNvCxnSpPr/>
            <p:nvPr/>
          </p:nvCxnSpPr>
          <p:spPr>
            <a:xfrm>
              <a:off x="6494205" y="5641821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4820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12E7-7519-B8C1-5FDA-BDA061204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B7B0A15-EE86-8191-FA4F-B77FABA5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7509783" cy="1653371"/>
          </a:xfrm>
        </p:spPr>
        <p:txBody>
          <a:bodyPr/>
          <a:lstStyle/>
          <a:p>
            <a:r>
              <a:rPr lang="en-US" dirty="0"/>
              <a:t>Type of Middleware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DAB45-DFA2-DC94-873F-80A464DC3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577436" cy="469748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Group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Middleware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register Middleware in a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a group of middleware to Route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group of middleware to Single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Middleware can apply on Single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Middleware can apply on Route Group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Middleware can apply on all Route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B31B54-730D-09DC-CCDA-C458901AF4EB}"/>
              </a:ext>
            </a:extLst>
          </p:cNvPr>
          <p:cNvGrpSpPr/>
          <p:nvPr/>
        </p:nvGrpSpPr>
        <p:grpSpPr>
          <a:xfrm>
            <a:off x="7037350" y="2222091"/>
            <a:ext cx="1543666" cy="2650918"/>
            <a:chOff x="5692876" y="3864077"/>
            <a:chExt cx="1543666" cy="28573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F405A4-8B2F-C3F4-088F-93AB6BA639B6}"/>
                </a:ext>
              </a:extLst>
            </p:cNvPr>
            <p:cNvSpPr/>
            <p:nvPr/>
          </p:nvSpPr>
          <p:spPr>
            <a:xfrm>
              <a:off x="5692876" y="3864077"/>
              <a:ext cx="1543666" cy="698092"/>
            </a:xfrm>
            <a:prstGeom prst="rect">
              <a:avLst/>
            </a:prstGeom>
            <a:solidFill>
              <a:srgbClr val="FFB90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AFD30F5-D8E7-2F75-E398-56838D03638F}"/>
                </a:ext>
              </a:extLst>
            </p:cNvPr>
            <p:cNvSpPr/>
            <p:nvPr/>
          </p:nvSpPr>
          <p:spPr>
            <a:xfrm>
              <a:off x="5692876" y="4943729"/>
              <a:ext cx="1543666" cy="698092"/>
            </a:xfrm>
            <a:prstGeom prst="rect">
              <a:avLst/>
            </a:prstGeom>
            <a:solidFill>
              <a:srgbClr val="7030A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E6D6C16-02A3-0997-7CF0-D348DCAEE343}"/>
                </a:ext>
              </a:extLst>
            </p:cNvPr>
            <p:cNvSpPr/>
            <p:nvPr/>
          </p:nvSpPr>
          <p:spPr>
            <a:xfrm>
              <a:off x="5692876" y="6023381"/>
              <a:ext cx="1543666" cy="698092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Control/View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871C5CC-8B16-73E4-BC46-745AA6BF44CA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6464709" y="4562169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2C34ACB-07C8-1ED0-1791-23C2CA75CACF}"/>
                </a:ext>
              </a:extLst>
            </p:cNvPr>
            <p:cNvCxnSpPr/>
            <p:nvPr/>
          </p:nvCxnSpPr>
          <p:spPr>
            <a:xfrm>
              <a:off x="6494205" y="5641821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82873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96B6-60ED-8220-D1AC-1ED4201C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5F8B835-BE9A-C0DE-5A5F-C449AD4E6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65979" cy="1653371"/>
          </a:xfrm>
        </p:spPr>
        <p:txBody>
          <a:bodyPr/>
          <a:lstStyle/>
          <a:p>
            <a:r>
              <a:rPr lang="en-US" dirty="0"/>
              <a:t>Assigning Middleware to Routes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0C54-C8F7-BB46-CF57-6722CC0EA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23984"/>
            <a:ext cx="5577436" cy="4697489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Middleware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Routes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middleware on the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Apply multiple middleware on Route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4052B4-8820-AB70-9290-F1FA4D13A2A4}"/>
              </a:ext>
            </a:extLst>
          </p:cNvPr>
          <p:cNvGrpSpPr/>
          <p:nvPr/>
        </p:nvGrpSpPr>
        <p:grpSpPr>
          <a:xfrm>
            <a:off x="7037350" y="2222091"/>
            <a:ext cx="1543666" cy="2650918"/>
            <a:chOff x="5692876" y="3864077"/>
            <a:chExt cx="1543666" cy="28573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B35A3E-EE0A-DF0D-D483-6487B7BC7DA7}"/>
                </a:ext>
              </a:extLst>
            </p:cNvPr>
            <p:cNvSpPr/>
            <p:nvPr/>
          </p:nvSpPr>
          <p:spPr>
            <a:xfrm>
              <a:off x="5692876" y="3864077"/>
              <a:ext cx="1543666" cy="698092"/>
            </a:xfrm>
            <a:prstGeom prst="rect">
              <a:avLst/>
            </a:prstGeom>
            <a:solidFill>
              <a:srgbClr val="FFB90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Request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AC712-C103-7D15-168F-966BB5037DD8}"/>
                </a:ext>
              </a:extLst>
            </p:cNvPr>
            <p:cNvSpPr/>
            <p:nvPr/>
          </p:nvSpPr>
          <p:spPr>
            <a:xfrm>
              <a:off x="5692876" y="4943729"/>
              <a:ext cx="1543666" cy="698092"/>
            </a:xfrm>
            <a:prstGeom prst="rect">
              <a:avLst/>
            </a:prstGeom>
            <a:solidFill>
              <a:srgbClr val="7030A0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Middleware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80C5079-90B0-113B-4068-4F80320727D5}"/>
                </a:ext>
              </a:extLst>
            </p:cNvPr>
            <p:cNvSpPr/>
            <p:nvPr/>
          </p:nvSpPr>
          <p:spPr>
            <a:xfrm>
              <a:off x="5692876" y="6023381"/>
              <a:ext cx="1543666" cy="698092"/>
            </a:xfrm>
            <a:prstGeom prst="rect">
              <a:avLst/>
            </a:prstGeom>
            <a:solidFill>
              <a:schemeClr val="accent1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Control/View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99338F-61EC-253B-A902-D15FA9DE54C0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6464709" y="4562169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8D5FDE5-43DF-129D-3663-4E054ABD5A9B}"/>
                </a:ext>
              </a:extLst>
            </p:cNvPr>
            <p:cNvCxnSpPr/>
            <p:nvPr/>
          </p:nvCxnSpPr>
          <p:spPr>
            <a:xfrm>
              <a:off x="6494205" y="5641821"/>
              <a:ext cx="0" cy="38156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181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08A62-27E1-7873-3018-1A825F32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6299DF1-CD1E-2A5A-9F65-D1295783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Connect to MySQL Database in </a:t>
            </a:r>
            <a:r>
              <a:rPr lang="en-US" dirty="0">
                <a:solidFill>
                  <a:srgbClr val="F12317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51E1E-929B-7101-45A2-B4AAD0C2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636431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Env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 migration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controller and route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Connection to DB without migration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FE3908-B983-21DE-2824-F7D5B35314DA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707900" y="2389391"/>
            <a:ext cx="2857143" cy="2857143"/>
          </a:xfrm>
        </p:spPr>
      </p:pic>
    </p:spTree>
    <p:extLst>
      <p:ext uri="{BB962C8B-B14F-4D97-AF65-F5344CB8AC3E}">
        <p14:creationId xmlns:p14="http://schemas.microsoft.com/office/powerpoint/2010/main" val="2897515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BA4C-E21D-FFF0-DF04-E327EDCD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27C87DF-C60C-20E9-4690-CDCA36C02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Display DB Data on UI</a:t>
            </a:r>
            <a:endParaRPr lang="en-US" dirty="0">
              <a:solidFill>
                <a:srgbClr val="F12317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2551-1192-04D6-8286-0CB63D6A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636431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view from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DB data from the controller to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User for each loop display data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F9BEAAB-05C1-771A-F8FC-434FAEDAB8E6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599746" y="2233672"/>
            <a:ext cx="2857143" cy="2857143"/>
          </a:xfrm>
        </p:spPr>
      </p:pic>
    </p:spTree>
    <p:extLst>
      <p:ext uri="{BB962C8B-B14F-4D97-AF65-F5344CB8AC3E}">
        <p14:creationId xmlns:p14="http://schemas.microsoft.com/office/powerpoint/2010/main" val="3844538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3888-FEF9-C16B-08F5-FDBEB5171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5785BC9-E546-1D89-77DA-ABA0108E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Eloquent Model in </a:t>
            </a:r>
            <a:r>
              <a:rPr lang="en-US" dirty="0">
                <a:solidFill>
                  <a:srgbClr val="FF0000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FB172-2825-7612-2ADC-DA7E6DB0D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636431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a table in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.env file configuration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the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data to view and display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function in Model and Use it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4C92E9E-6AA2-92DE-5D86-A00EE09C7BA8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648907" y="2399224"/>
            <a:ext cx="2857143" cy="2857143"/>
          </a:xfrm>
        </p:spPr>
      </p:pic>
    </p:spTree>
    <p:extLst>
      <p:ext uri="{BB962C8B-B14F-4D97-AF65-F5344CB8AC3E}">
        <p14:creationId xmlns:p14="http://schemas.microsoft.com/office/powerpoint/2010/main" val="1717514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7546-BCAB-7B7F-D5BB-782DCA1B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036819-F615-2AE6-6CA3-97A9CB2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What is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2D73-9D6F-77D7-A8A3-7018E67F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636431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 of MVC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a PHP file with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Here we write business logic and DB 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But in Laravel we mostly do DB related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 Laravel we have an Object-relational mapper (ORM) Feature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9D50E2-3D69-AF01-B7C5-3FDC270746D0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803923" y="1287463"/>
            <a:ext cx="3974913" cy="3332162"/>
          </a:xfrm>
        </p:spPr>
      </p:pic>
    </p:spTree>
    <p:extLst>
      <p:ext uri="{BB962C8B-B14F-4D97-AF65-F5344CB8AC3E}">
        <p14:creationId xmlns:p14="http://schemas.microsoft.com/office/powerpoint/2010/main" val="27014726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7546-BCAB-7B7F-D5BB-782DCA1B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036819-F615-2AE6-6CA3-97A9CB2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Inspecting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2D73-9D6F-77D7-A8A3-7018E67F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636431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Inspecting the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DB Table details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F5E16CF-9C90-7AAA-4C01-43BBD5CB719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648907" y="2399224"/>
            <a:ext cx="2857143" cy="2857143"/>
          </a:xfrm>
        </p:spPr>
      </p:pic>
    </p:spTree>
    <p:extLst>
      <p:ext uri="{BB962C8B-B14F-4D97-AF65-F5344CB8AC3E}">
        <p14:creationId xmlns:p14="http://schemas.microsoft.com/office/powerpoint/2010/main" val="1064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87546-BCAB-7B7F-D5BB-782DCA1B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3036819-F615-2AE6-6CA3-97A9CB2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Http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D2D73-9D6F-77D7-A8A3-7018E67F1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77957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HTTP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Controller, Route and View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use HTTP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Call API with HTTP Client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API (Application programming interface) can pass data from</a:t>
            </a:r>
          </a:p>
          <a:p>
            <a:pPr marL="626364" lvl="1" indent="-342900"/>
            <a:r>
              <a:rPr lang="en-US" dirty="0"/>
              <a:t>1 Programming language to other</a:t>
            </a:r>
          </a:p>
          <a:p>
            <a:pPr marL="626364" lvl="1" indent="-342900"/>
            <a:r>
              <a:rPr lang="en-US" dirty="0"/>
              <a:t>1 Framework to other</a:t>
            </a:r>
          </a:p>
          <a:p>
            <a:pPr marL="626364" lvl="1" indent="-342900"/>
            <a:r>
              <a:rPr lang="en-US" dirty="0"/>
              <a:t>1 Project to other</a:t>
            </a:r>
          </a:p>
          <a:p>
            <a:pPr marL="342900" indent="-342900"/>
            <a:r>
              <a:rPr lang="en-US" dirty="0"/>
              <a:t>API has JSON format data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F7845B3-CED5-DFE0-C8C3-4176893A52E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360433" y="1921122"/>
            <a:ext cx="4664075" cy="1507878"/>
          </a:xfrm>
        </p:spPr>
      </p:pic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4AD77420-94EA-A5CE-8E46-FD6BC8D775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022173" y="3560225"/>
            <a:ext cx="3717664" cy="228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820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43BD6-60F0-73D8-3F88-75684BFD1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A1AB06-D86A-2FFF-6BC6-5CED0541A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Database: Query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2609E-FCE4-7BDE-280C-7EF46908F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77957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DB with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Queries like where, get first </a:t>
            </a:r>
            <a:r>
              <a:rPr lang="en-US" dirty="0" err="1"/>
              <a:t>etc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Insert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Delete data.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5E9EF27-42BC-2BA0-BC9F-EC8B9D0B6AA2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527582" y="2452064"/>
            <a:ext cx="4664075" cy="1507878"/>
          </a:xfrm>
        </p:spPr>
      </p:pic>
    </p:spTree>
    <p:extLst>
      <p:ext uri="{BB962C8B-B14F-4D97-AF65-F5344CB8AC3E}">
        <p14:creationId xmlns:p14="http://schemas.microsoft.com/office/powerpoint/2010/main" val="2916094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E4B3E-2759-4EAB-10DA-6C25A04C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48FC679-C3F7-4566-E098-399B0B875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Database: Query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9CFC8-7928-7ADC-A51C-BC1AB093A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5"/>
            <a:ext cx="10680379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DB with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Queries like where, get first </a:t>
            </a:r>
            <a:r>
              <a:rPr lang="en-US" dirty="0" err="1"/>
              <a:t>etc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Insert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Delete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Database query builder provides a convenient way to creating and running database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E.g</a:t>
            </a:r>
            <a:r>
              <a:rPr lang="en-US" dirty="0"/>
              <a:t>:- get data, where condition, order by, update data, delete data, max, min value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604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FD9F-8DC4-3593-C8A8-C7930894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3C64F8-039D-5208-2DF8-43848B66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Eloquent Model: Query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030A2-EB09-8A76-2D91-0CF66EDCD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5"/>
            <a:ext cx="10680379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Eloquent Model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DB with query builder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Queries like where, get first </a:t>
            </a:r>
            <a:r>
              <a:rPr lang="en-US" dirty="0" err="1"/>
              <a:t>etc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Insert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Delete data.</a:t>
            </a:r>
          </a:p>
        </p:txBody>
      </p:sp>
    </p:spTree>
    <p:extLst>
      <p:ext uri="{BB962C8B-B14F-4D97-AF65-F5344CB8AC3E}">
        <p14:creationId xmlns:p14="http://schemas.microsoft.com/office/powerpoint/2010/main" val="35614834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B47E-89F6-E706-DA6E-26450097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F3A5E5D-59F4-7DFD-6E9A-AA0E30ECC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Route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8406F-5590-81DA-F786-18BB2954B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023985"/>
            <a:ext cx="10680379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Route?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Route methods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forms for the use of route methods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 of all route methods</a:t>
            </a:r>
          </a:p>
          <a:p>
            <a:pPr marL="626364" lvl="1" indent="-342900"/>
            <a:r>
              <a:rPr lang="en-US" dirty="0"/>
              <a:t>Route::get($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Route::post($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Route::put($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Route::patch($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Route::delete($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Route::options($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  <a:p>
            <a:pPr marL="626364" lvl="1" indent="-342900"/>
            <a:r>
              <a:rPr lang="en-US" dirty="0"/>
              <a:t>Route::view($</a:t>
            </a:r>
            <a:r>
              <a:rPr lang="en-US" dirty="0" err="1"/>
              <a:t>uri</a:t>
            </a:r>
            <a:r>
              <a:rPr lang="en-US" dirty="0"/>
              <a:t>, $callback);</a:t>
            </a:r>
          </a:p>
        </p:txBody>
      </p:sp>
    </p:spTree>
    <p:extLst>
      <p:ext uri="{BB962C8B-B14F-4D97-AF65-F5344CB8AC3E}">
        <p14:creationId xmlns:p14="http://schemas.microsoft.com/office/powerpoint/2010/main" val="2617272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C072-B1C5-1328-88CE-CB7DBEC0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5A8CECD-0C6E-5ECC-8F89-42AC001C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HTTP Request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4F946-BF46-9CA8-3B29-E7CED633D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960895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HTTP Request class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HTML form and send request to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request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path, method, URL, full URL,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Check path,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IP of request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DC2764-0091-D00C-06AE-D65F070CCFC4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274834" y="2675061"/>
            <a:ext cx="4664075" cy="1507878"/>
          </a:xfrm>
        </p:spPr>
      </p:pic>
    </p:spTree>
    <p:extLst>
      <p:ext uri="{BB962C8B-B14F-4D97-AF65-F5344CB8AC3E}">
        <p14:creationId xmlns:p14="http://schemas.microsoft.com/office/powerpoint/2010/main" val="1282560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session?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login form, route, and controller.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Store data in the session.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Get data from the session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Remove data from the session</a:t>
            </a:r>
          </a:p>
          <a:p>
            <a:endParaRPr lang="en-US" dirty="0"/>
          </a:p>
          <a:p>
            <a:pPr marL="626364" lvl="1" indent="-342900"/>
            <a:r>
              <a:rPr lang="en-US" dirty="0"/>
              <a:t>A session is a way to store and access data across multiple pages of a website for a single user.</a:t>
            </a:r>
          </a:p>
          <a:p>
            <a:pPr marL="626364" lvl="1" indent="-342900"/>
            <a:r>
              <a:rPr lang="en-US" dirty="0"/>
              <a:t>Session store data in the service side.</a:t>
            </a:r>
          </a:p>
          <a:p>
            <a:pPr marL="626364" lvl="1" indent="-342900"/>
            <a:r>
              <a:rPr lang="en-US" dirty="0"/>
              <a:t>But manage with browser cookies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432829-BAA3-7133-D2F2-2770707B1D0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032396" y="2023985"/>
            <a:ext cx="3876509" cy="2199892"/>
          </a:xfrm>
        </p:spPr>
      </p:pic>
    </p:spTree>
    <p:extLst>
      <p:ext uri="{BB962C8B-B14F-4D97-AF65-F5344CB8AC3E}">
        <p14:creationId xmlns:p14="http://schemas.microsoft.com/office/powerpoint/2010/main" val="18312654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Flash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flash session?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Html form, route, and controller.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Store data in the flash session.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data from the session</a:t>
            </a:r>
          </a:p>
          <a:p>
            <a:pPr marL="626364" lvl="1" indent="-342900"/>
            <a:r>
              <a:rPr lang="en-US" dirty="0"/>
              <a:t>A session is a way to store data only once</a:t>
            </a:r>
          </a:p>
          <a:p>
            <a:pPr marL="626364" lvl="1" indent="-342900"/>
            <a:r>
              <a:rPr lang="en-US" dirty="0"/>
              <a:t>After page refresh or anything route request data will removed from flash session.</a:t>
            </a:r>
          </a:p>
          <a:p>
            <a:pPr marL="626364" lvl="1" indent="-342900"/>
            <a:r>
              <a:rPr lang="en-US" dirty="0"/>
              <a:t>This is basically used for display error and success message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432829-BAA3-7133-D2F2-2770707B1D0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041823" y="1533791"/>
            <a:ext cx="3876509" cy="2199892"/>
          </a:xfrm>
        </p:spPr>
      </p:pic>
    </p:spTree>
    <p:extLst>
      <p:ext uri="{BB962C8B-B14F-4D97-AF65-F5344CB8AC3E}">
        <p14:creationId xmlns:p14="http://schemas.microsoft.com/office/powerpoint/2010/main" val="6199144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Upload and Display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Small form to select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a Controller for uploading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Store file with auto generated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Store File with the provided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upload file public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Display file after upload.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432829-BAA3-7133-D2F2-2770707B1D07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041823" y="1533791"/>
            <a:ext cx="3876509" cy="2199892"/>
          </a:xfrm>
        </p:spPr>
      </p:pic>
    </p:spTree>
    <p:extLst>
      <p:ext uri="{BB962C8B-B14F-4D97-AF65-F5344CB8AC3E}">
        <p14:creationId xmlns:p14="http://schemas.microsoft.com/office/powerpoint/2010/main" val="1626077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Insert Data in MySQL DB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11112998" cy="4834015"/>
          </a:xfrm>
        </p:spPr>
        <p:txBody>
          <a:bodyPr>
            <a:normAutofit fontScale="92500" lnSpcReduction="20000"/>
          </a:bodyPr>
          <a:lstStyle/>
          <a:p>
            <a:pPr marL="626364" lvl="1" indent="-342900"/>
            <a:r>
              <a:rPr lang="en-US" dirty="0"/>
              <a:t>Set .env file config</a:t>
            </a:r>
          </a:p>
          <a:p>
            <a:pPr marL="626364" lvl="1" indent="-342900"/>
            <a:r>
              <a:rPr lang="en-US" dirty="0"/>
              <a:t>Make Controller, Model, View</a:t>
            </a:r>
          </a:p>
          <a:p>
            <a:pPr marL="626364" lvl="1" indent="-342900"/>
            <a:r>
              <a:rPr lang="en-US" dirty="0"/>
              <a:t>Make HTML Form</a:t>
            </a:r>
          </a:p>
          <a:p>
            <a:pPr marL="626364" lvl="1" indent="-342900"/>
            <a:r>
              <a:rPr lang="en-US" dirty="0"/>
              <a:t>Create Table in </a:t>
            </a:r>
            <a:r>
              <a:rPr lang="en-US" dirty="0" err="1"/>
              <a:t>MySql</a:t>
            </a:r>
            <a:r>
              <a:rPr lang="en-US" dirty="0"/>
              <a:t> DB</a:t>
            </a:r>
          </a:p>
          <a:p>
            <a:pPr marL="626364" lvl="1" indent="-342900"/>
            <a:r>
              <a:rPr lang="en-US" dirty="0"/>
              <a:t>Store Data in DB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Get and Display Data from DB</a:t>
            </a:r>
          </a:p>
          <a:p>
            <a:pPr marL="626364" lvl="1" indent="-342900"/>
            <a:r>
              <a:rPr lang="en-US" dirty="0"/>
              <a:t>Make View, Route and Controller function</a:t>
            </a:r>
          </a:p>
          <a:p>
            <a:pPr marL="626364" lvl="1" indent="-342900"/>
            <a:r>
              <a:rPr lang="en-US" dirty="0"/>
              <a:t>Fetch data from the </a:t>
            </a:r>
            <a:r>
              <a:rPr lang="en-US" dirty="0" err="1"/>
              <a:t>MySql</a:t>
            </a:r>
            <a:r>
              <a:rPr lang="en-US" dirty="0"/>
              <a:t> table</a:t>
            </a:r>
          </a:p>
          <a:p>
            <a:pPr marL="626364" lvl="1" indent="-342900"/>
            <a:r>
              <a:rPr lang="en-US" dirty="0"/>
              <a:t>Display data on 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Delete Data from </a:t>
            </a:r>
            <a:r>
              <a:rPr lang="en-US" b="1" dirty="0" err="1"/>
              <a:t>MySql</a:t>
            </a:r>
            <a:r>
              <a:rPr lang="en-US" b="1" dirty="0"/>
              <a:t> Table</a:t>
            </a:r>
          </a:p>
          <a:p>
            <a:pPr marL="626364" lvl="1" indent="-342900"/>
            <a:r>
              <a:rPr lang="en-US" dirty="0"/>
              <a:t>Make Delete Option for in Table</a:t>
            </a:r>
          </a:p>
          <a:p>
            <a:pPr marL="626364" lvl="1" indent="-342900"/>
            <a:r>
              <a:rPr lang="en-US" dirty="0"/>
              <a:t>Make Route and controller function</a:t>
            </a:r>
          </a:p>
          <a:p>
            <a:pPr marL="626364" lvl="1" indent="-342900"/>
            <a:r>
              <a:rPr lang="en-US" dirty="0"/>
              <a:t>Delete data from table</a:t>
            </a:r>
          </a:p>
          <a:p>
            <a:pPr marL="626364" lvl="1" indent="-342900"/>
            <a:r>
              <a:rPr lang="en-US" dirty="0"/>
              <a:t>Redirect after delete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CF75B444-1093-BB0D-7B65-AD8B77B8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6622" y="2000428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221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Populate Data in Input Fields From MySQL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11112998" cy="4834015"/>
          </a:xfrm>
        </p:spPr>
        <p:txBody>
          <a:bodyPr>
            <a:normAutofit lnSpcReduction="10000"/>
          </a:bodyPr>
          <a:lstStyle/>
          <a:p>
            <a:pPr marL="626364" lvl="1" indent="-342900"/>
            <a:r>
              <a:rPr lang="en-US" dirty="0"/>
              <a:t>Make the Edit option in the table</a:t>
            </a:r>
          </a:p>
          <a:p>
            <a:pPr marL="626364" lvl="1" indent="-342900"/>
            <a:r>
              <a:rPr lang="en-US" dirty="0"/>
              <a:t>Make Route and controller function</a:t>
            </a:r>
          </a:p>
          <a:p>
            <a:pPr marL="626364" lvl="1" indent="-342900"/>
            <a:r>
              <a:rPr lang="en-US" dirty="0"/>
              <a:t>Get data from table with ID</a:t>
            </a:r>
          </a:p>
          <a:p>
            <a:pPr marL="626364" lvl="1" indent="-342900"/>
            <a:r>
              <a:rPr lang="en-US" dirty="0"/>
              <a:t>Make Html Form</a:t>
            </a:r>
          </a:p>
          <a:p>
            <a:pPr marL="626364" lvl="1" indent="-342900"/>
            <a:r>
              <a:rPr lang="en-US" dirty="0"/>
              <a:t>Populate Data in input fields</a:t>
            </a:r>
          </a:p>
          <a:p>
            <a:pPr marL="626364" lvl="1" indent="-342900"/>
            <a:r>
              <a:rPr lang="en-US" b="1" dirty="0"/>
              <a:t>Update Data in </a:t>
            </a:r>
            <a:r>
              <a:rPr lang="en-US" b="1" dirty="0" err="1"/>
              <a:t>MySql</a:t>
            </a:r>
            <a:r>
              <a:rPr lang="en-US" b="1" dirty="0"/>
              <a:t> Table</a:t>
            </a:r>
          </a:p>
          <a:p>
            <a:pPr marL="909828" lvl="2" indent="-342900"/>
            <a:r>
              <a:rPr lang="en-US" dirty="0"/>
              <a:t>Make Put Request</a:t>
            </a:r>
          </a:p>
          <a:p>
            <a:pPr marL="909828" lvl="2" indent="-342900"/>
            <a:r>
              <a:rPr lang="en-US" dirty="0"/>
              <a:t>Make Route and controller function</a:t>
            </a:r>
          </a:p>
          <a:p>
            <a:pPr marL="909828" lvl="2" indent="-342900"/>
            <a:r>
              <a:rPr lang="en-US" dirty="0"/>
              <a:t>Update data in </a:t>
            </a:r>
            <a:r>
              <a:rPr lang="en-US" dirty="0" err="1"/>
              <a:t>MySql</a:t>
            </a:r>
            <a:r>
              <a:rPr lang="en-US" dirty="0"/>
              <a:t> Table</a:t>
            </a:r>
          </a:p>
          <a:p>
            <a:pPr marL="626364" lvl="1" indent="-342900"/>
            <a:r>
              <a:rPr lang="en-US" b="1" dirty="0"/>
              <a:t>Search in </a:t>
            </a:r>
            <a:r>
              <a:rPr lang="en-US" b="1" dirty="0" err="1"/>
              <a:t>MySql</a:t>
            </a:r>
            <a:r>
              <a:rPr lang="en-US" b="1" dirty="0"/>
              <a:t> Database Table</a:t>
            </a:r>
          </a:p>
          <a:p>
            <a:pPr marL="909828" lvl="2" indent="-342900"/>
            <a:r>
              <a:rPr lang="en-US" dirty="0"/>
              <a:t>Make Search Form</a:t>
            </a:r>
          </a:p>
          <a:p>
            <a:pPr marL="909828" lvl="2" indent="-342900"/>
            <a:r>
              <a:rPr lang="en-US" dirty="0"/>
              <a:t>Make Route and controller function</a:t>
            </a:r>
          </a:p>
          <a:p>
            <a:pPr marL="909828" lvl="2" indent="-342900"/>
            <a:r>
              <a:rPr lang="en-US" dirty="0"/>
              <a:t>Search and display data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CF75B444-1093-BB0D-7B65-AD8B77B8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037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Pagination with </a:t>
            </a:r>
            <a:r>
              <a:rPr lang="en-US" dirty="0" err="1"/>
              <a:t>Mysql</a:t>
            </a:r>
            <a:r>
              <a:rPr lang="en-US" dirty="0"/>
              <a:t> Data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11112998" cy="4834015"/>
          </a:xfrm>
        </p:spPr>
        <p:txBody>
          <a:bodyPr>
            <a:normAutofit/>
          </a:bodyPr>
          <a:lstStyle/>
          <a:p>
            <a:pPr marL="626364" lvl="1" indent="-342900"/>
            <a:r>
              <a:rPr lang="en-US" dirty="0"/>
              <a:t>Apply Pagination with Database Result</a:t>
            </a:r>
          </a:p>
          <a:p>
            <a:pPr marL="626364" lvl="1" indent="-342900"/>
            <a:r>
              <a:rPr lang="en-US" dirty="0"/>
              <a:t>Apply Pagination Link</a:t>
            </a:r>
          </a:p>
          <a:p>
            <a:pPr marL="626364" lvl="1" indent="-342900"/>
            <a:r>
              <a:rPr lang="en-US" dirty="0"/>
              <a:t>Add Style</a:t>
            </a:r>
          </a:p>
          <a:p>
            <a:pPr marL="626364" lvl="1" indent="-342900"/>
            <a:r>
              <a:rPr lang="en-US" b="1" dirty="0"/>
              <a:t>Delete Multiple Record with MySQL</a:t>
            </a:r>
          </a:p>
          <a:p>
            <a:pPr marL="909828" lvl="2" indent="-342900"/>
            <a:r>
              <a:rPr lang="en-US" dirty="0"/>
              <a:t>Make a Checkbox with each row.</a:t>
            </a:r>
          </a:p>
          <a:p>
            <a:pPr marL="909828" lvl="2" indent="-342900"/>
            <a:r>
              <a:rPr lang="en-US" dirty="0"/>
              <a:t>Make Form and delete button.</a:t>
            </a:r>
          </a:p>
          <a:p>
            <a:pPr marL="909828" lvl="2" indent="-342900"/>
            <a:r>
              <a:rPr lang="en-US" dirty="0"/>
              <a:t>Make Route and Controller function.</a:t>
            </a:r>
          </a:p>
          <a:p>
            <a:pPr marL="909828" lvl="2" indent="-342900"/>
            <a:r>
              <a:rPr lang="en-US" dirty="0"/>
              <a:t>Delete Records.</a:t>
            </a:r>
          </a:p>
        </p:txBody>
      </p: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CF75B444-1093-BB0D-7B65-AD8B77B82D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057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Building Layout with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4"/>
            <a:ext cx="11112998" cy="4834015"/>
          </a:xfrm>
        </p:spPr>
        <p:txBody>
          <a:bodyPr>
            <a:normAutofit/>
          </a:bodyPr>
          <a:lstStyle/>
          <a:p>
            <a:pPr marL="626364" lvl="1" indent="-342900"/>
            <a:r>
              <a:rPr lang="en-US" dirty="0"/>
              <a:t>What is Layout?</a:t>
            </a:r>
          </a:p>
          <a:p>
            <a:pPr marL="626364" lvl="1" indent="-342900"/>
            <a:r>
              <a:rPr lang="en-US" dirty="0"/>
              <a:t>Make Home and About Page.</a:t>
            </a:r>
          </a:p>
          <a:p>
            <a:pPr marL="626364" lvl="1" indent="-342900"/>
            <a:r>
              <a:rPr lang="en-US" dirty="0"/>
              <a:t>Make Component for layout.</a:t>
            </a:r>
          </a:p>
          <a:p>
            <a:pPr marL="626364" lvl="1" indent="-342900"/>
            <a:r>
              <a:rPr lang="en-US" dirty="0"/>
              <a:t>Make layout with component</a:t>
            </a:r>
          </a:p>
          <a:p>
            <a:pPr marL="626364" lvl="1" indent="-342900"/>
            <a:r>
              <a:rPr lang="en-US" b="1" dirty="0"/>
              <a:t>What is Layout?</a:t>
            </a:r>
          </a:p>
          <a:p>
            <a:pPr marL="626364" lvl="1" indent="-342900"/>
            <a:r>
              <a:rPr lang="en-US" dirty="0"/>
              <a:t>Common template for:</a:t>
            </a:r>
          </a:p>
          <a:p>
            <a:pPr marL="626364" lvl="1" indent="-342900"/>
            <a:r>
              <a:rPr lang="en-US" dirty="0"/>
              <a:t>reuse code</a:t>
            </a:r>
          </a:p>
          <a:p>
            <a:pPr marL="626364" lvl="1" indent="-342900"/>
            <a:r>
              <a:rPr lang="en-US" dirty="0"/>
              <a:t>reuse common </a:t>
            </a:r>
            <a:r>
              <a:rPr lang="en-US" dirty="0" err="1"/>
              <a:t>Ul</a:t>
            </a:r>
            <a:endParaRPr lang="en-US" dirty="0"/>
          </a:p>
          <a:p>
            <a:pPr marL="626364" lvl="1" indent="-342900"/>
            <a:r>
              <a:rPr lang="en-US" dirty="0"/>
              <a:t>reuse style</a:t>
            </a:r>
          </a:p>
          <a:p>
            <a:pPr marL="626364" lvl="1" indent="-342900"/>
            <a:r>
              <a:rPr lang="en-US" dirty="0"/>
              <a:t>and similar look and feel</a:t>
            </a:r>
          </a:p>
        </p:txBody>
      </p:sp>
    </p:spTree>
    <p:extLst>
      <p:ext uri="{BB962C8B-B14F-4D97-AF65-F5344CB8AC3E}">
        <p14:creationId xmlns:p14="http://schemas.microsoft.com/office/powerpoint/2010/main" val="7007179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Add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layout continues from last part.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CSS and JS file for Bootstrap 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Try some bootstrap component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use CSS and JS</a:t>
            </a:r>
          </a:p>
          <a:p>
            <a:pPr marL="626364" lvl="1" indent="-342900"/>
            <a:r>
              <a:rPr lang="en-US" dirty="0"/>
              <a:t>Write CSS and JS</a:t>
            </a:r>
          </a:p>
          <a:p>
            <a:pPr marL="626364" lvl="1" indent="-342900"/>
            <a:r>
              <a:rPr lang="en-US" dirty="0"/>
              <a:t>Use CSS and JS in a view</a:t>
            </a:r>
          </a:p>
          <a:p>
            <a:pPr marL="626364" lvl="1" indent="-342900"/>
            <a:r>
              <a:rPr lang="en-US" dirty="0" err="1"/>
              <a:t>Uss</a:t>
            </a:r>
            <a:r>
              <a:rPr lang="en-US" dirty="0"/>
              <a:t> CSS and JS with the layout</a:t>
            </a:r>
          </a:p>
          <a:p>
            <a:pPr marL="626364" lvl="1" indent="-342900"/>
            <a:r>
              <a:rPr lang="en-US" dirty="0"/>
              <a:t>Use Internal CSS and </a:t>
            </a:r>
            <a:r>
              <a:rPr lang="en-US" dirty="0" err="1"/>
              <a:t>js</a:t>
            </a:r>
            <a:endParaRPr lang="en-US" dirty="0"/>
          </a:p>
          <a:p>
            <a:pPr marL="626364" lvl="1" indent="-342900"/>
            <a:r>
              <a:rPr lang="en-US" dirty="0"/>
              <a:t>Asset method for add CSS and JS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01CE4F-2D00-698F-44A3-391FEA1DEF6D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7859929" y="2070894"/>
            <a:ext cx="2898557" cy="2190021"/>
          </a:xfrm>
        </p:spPr>
      </p:pic>
    </p:spTree>
    <p:extLst>
      <p:ext uri="{BB962C8B-B14F-4D97-AF65-F5344CB8AC3E}">
        <p14:creationId xmlns:p14="http://schemas.microsoft.com/office/powerpoint/2010/main" val="13609976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Layouts Using Template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common code in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Pass dynamic data from pages to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common style with layout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Bootstrap with layout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6EAC-9C06-FDFD-D63F-3C5ACBDCCF4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69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Stub Customization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Use Stub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Customize Controller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Customize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Interview Question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6EAC-9C06-FDFD-D63F-3C5ACBDCCF4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654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Migration in </a:t>
            </a:r>
            <a:r>
              <a:rPr lang="en-US" dirty="0">
                <a:solidFill>
                  <a:srgbClr val="FF0000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Migration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Table with Migration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Write code for Column Field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Migrate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Migration Important Command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reset Migration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Rollback Migration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Rollback steps, Refresh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Single File Migration</a:t>
            </a: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6D86B75-3898-8DF1-099D-F85612E4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35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Seeding in </a:t>
            </a:r>
            <a:r>
              <a:rPr lang="en-US" dirty="0">
                <a:solidFill>
                  <a:srgbClr val="FF0000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Seeding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generate seeder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Seeding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Run Seeding for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Interview Question</a:t>
            </a: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6D86B75-3898-8DF1-099D-F85612E4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896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Maintenance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Maintenance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apply maintenance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come out from maintenance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to apply secret key with maintenance mode</a:t>
            </a: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6D86B75-3898-8DF1-099D-F85612E4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62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Accessors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Accessors in Laravel.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Model, Controller and 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2 Accessors for example.</a:t>
            </a: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6D86B75-3898-8DF1-099D-F85612E4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193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Mutators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Mutators in Laravel?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Controller function and route.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Make 2 Mutators for example.</a:t>
            </a:r>
          </a:p>
        </p:txBody>
      </p:sp>
      <p:pic>
        <p:nvPicPr>
          <p:cNvPr id="2" name="Content Placeholder 9">
            <a:extLst>
              <a:ext uri="{FF2B5EF4-FFF2-40B4-BE49-F238E27FC236}">
                <a16:creationId xmlns:a16="http://schemas.microsoft.com/office/drawing/2014/main" id="{A6D86B75-3898-8DF1-099D-F85612E4C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68" y="2023984"/>
            <a:ext cx="2857143" cy="2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7223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One to One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11112998" cy="453413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Relationship?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What is one to one relationship?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814DF7-39BD-14DF-3DAC-9F2BCD6EEE0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3014248"/>
            <a:ext cx="4664075" cy="1351791"/>
          </a:xfrm>
        </p:spPr>
      </p:pic>
    </p:spTree>
    <p:extLst>
      <p:ext uri="{BB962C8B-B14F-4D97-AF65-F5344CB8AC3E}">
        <p14:creationId xmlns:p14="http://schemas.microsoft.com/office/powerpoint/2010/main" val="33055953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r>
              <a:rPr lang="en-US" dirty="0"/>
              <a:t>Eloquent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15833" cy="453413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Eloquent relationships are a powerful feature of Laravel that allows developers to easily work with related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Eloquent relationships are a powerful feature get data from more than one table with any related field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814DF7-39BD-14DF-3DAC-9F2BCD6EEE0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3014248"/>
            <a:ext cx="4664075" cy="1351791"/>
          </a:xfrm>
        </p:spPr>
      </p:pic>
    </p:spTree>
    <p:extLst>
      <p:ext uri="{BB962C8B-B14F-4D97-AF65-F5344CB8AC3E}">
        <p14:creationId xmlns:p14="http://schemas.microsoft.com/office/powerpoint/2010/main" val="6463381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One to Many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15833" cy="453413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Laravel One to Many Relationship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What is one to many relationship?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function in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814DF7-39BD-14DF-3DAC-9F2BCD6EEE0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3014248"/>
            <a:ext cx="4664075" cy="1351791"/>
          </a:xfrm>
        </p:spPr>
      </p:pic>
    </p:spTree>
    <p:extLst>
      <p:ext uri="{BB962C8B-B14F-4D97-AF65-F5344CB8AC3E}">
        <p14:creationId xmlns:p14="http://schemas.microsoft.com/office/powerpoint/2010/main" val="7352857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Laravel</a:t>
            </a:r>
            <a:r>
              <a:rPr lang="en-US" dirty="0"/>
              <a:t> Many to One  Relationship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15833" cy="453413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One to Many (Inverse)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What is many to one relationship?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function in model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6814DF7-39BD-14DF-3DAC-9F2BCD6EEE0F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6283325" y="3014248"/>
            <a:ext cx="4664075" cy="1351791"/>
          </a:xfrm>
        </p:spPr>
      </p:pic>
    </p:spTree>
    <p:extLst>
      <p:ext uri="{BB962C8B-B14F-4D97-AF65-F5344CB8AC3E}">
        <p14:creationId xmlns:p14="http://schemas.microsoft.com/office/powerpoint/2010/main" val="3975313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24A45-02A2-0C20-D62A-8AEDEFD1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C1CD4-2443-0637-DD0A-1259C4B4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10355914" cy="1653371"/>
          </a:xfrm>
        </p:spPr>
        <p:txBody>
          <a:bodyPr/>
          <a:lstStyle/>
          <a:p>
            <a:pPr algn="just"/>
            <a:r>
              <a:rPr lang="en-US" dirty="0"/>
              <a:t>Send Email in </a:t>
            </a:r>
            <a:r>
              <a:rPr lang="en-US" dirty="0">
                <a:solidFill>
                  <a:srgbClr val="FF0000"/>
                </a:solidFill>
              </a:rPr>
              <a:t>Laravel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1CEE-B6D8-5A3E-BF9B-7E44367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5"/>
            <a:ext cx="5115833" cy="4534132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Changes in .env file for mail config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Generate app and password in </a:t>
            </a:r>
            <a:r>
              <a:rPr lang="en-US" dirty="0" err="1"/>
              <a:t>gmail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mail file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controller and route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Make email template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Send and Test Mail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29645-651B-6FAA-B9FA-DDDCA202A67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40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Graphic 5" descr="A flower arrangement as ornament">
            <a:extLst>
              <a:ext uri="{FF2B5EF4-FFF2-40B4-BE49-F238E27FC236}">
                <a16:creationId xmlns:a16="http://schemas.microsoft.com/office/drawing/2014/main" id="{B0AAF65C-4E71-A028-937D-30F877B9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1527142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796</TotalTime>
  <Words>2470</Words>
  <Application>Microsoft Office PowerPoint</Application>
  <PresentationFormat>Widescreen</PresentationFormat>
  <Paragraphs>531</Paragraphs>
  <Slides>59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Berlin Sans FB Demi</vt:lpstr>
      <vt:lpstr>Calibri</vt:lpstr>
      <vt:lpstr>Tenorite</vt:lpstr>
      <vt:lpstr>Custom</vt:lpstr>
      <vt:lpstr>PowerPoint Presentation</vt:lpstr>
      <vt:lpstr>What is Laravel</vt:lpstr>
      <vt:lpstr>What is Framework</vt:lpstr>
      <vt:lpstr>PowerPoint Presentation</vt:lpstr>
      <vt:lpstr>Tools for start with Laravel</vt:lpstr>
      <vt:lpstr>Why Laravel</vt:lpstr>
      <vt:lpstr>Create Laravel       App</vt:lpstr>
      <vt:lpstr>XAMPP and composer</vt:lpstr>
      <vt:lpstr>What is MVC</vt:lpstr>
      <vt:lpstr>PowerPoint Presentation</vt:lpstr>
      <vt:lpstr>File and Folder Structure &amp; Create File in Laravel</vt:lpstr>
      <vt:lpstr>Routing in Laravel</vt:lpstr>
      <vt:lpstr>Routing Methods in Laravel</vt:lpstr>
      <vt:lpstr>Controller in Laravel</vt:lpstr>
      <vt:lpstr>View in Laravel</vt:lpstr>
      <vt:lpstr>Blade Template in Laravel</vt:lpstr>
      <vt:lpstr>Including Sub Views in Laravel</vt:lpstr>
      <vt:lpstr>Component in Laravel</vt:lpstr>
      <vt:lpstr>Form and input fields</vt:lpstr>
      <vt:lpstr>Form Validation</vt:lpstr>
      <vt:lpstr>URL Generation</vt:lpstr>
      <vt:lpstr>Named Routes</vt:lpstr>
      <vt:lpstr>Route Group with prefix</vt:lpstr>
      <vt:lpstr>Route Group with Controller</vt:lpstr>
      <vt:lpstr>Middleware in LaravelZ</vt:lpstr>
      <vt:lpstr>Type of Middleware</vt:lpstr>
      <vt:lpstr>Assigning Middleware to Routes</vt:lpstr>
      <vt:lpstr>Connect to MySQL Database in Laravel</vt:lpstr>
      <vt:lpstr>Display DB Data on UI</vt:lpstr>
      <vt:lpstr>Eloquent Model in Laravel</vt:lpstr>
      <vt:lpstr>What is model</vt:lpstr>
      <vt:lpstr>Inspecting Model</vt:lpstr>
      <vt:lpstr>Http Client</vt:lpstr>
      <vt:lpstr>Database: Query Builder</vt:lpstr>
      <vt:lpstr>Database: Query Builder</vt:lpstr>
      <vt:lpstr>Eloquent Model: Query Builder</vt:lpstr>
      <vt:lpstr>Laravel Route methods</vt:lpstr>
      <vt:lpstr>Laravel HTTP Request Class</vt:lpstr>
      <vt:lpstr>Laravel Session</vt:lpstr>
      <vt:lpstr>Laravel Flash Session</vt:lpstr>
      <vt:lpstr>Upload and Display file</vt:lpstr>
      <vt:lpstr>Insert Data in MySQL DB Table</vt:lpstr>
      <vt:lpstr>Populate Data in Input Fields From MySQL </vt:lpstr>
      <vt:lpstr>Pagination with Mysql Data List</vt:lpstr>
      <vt:lpstr>Building Layout with Component</vt:lpstr>
      <vt:lpstr>Add Bootstrap</vt:lpstr>
      <vt:lpstr>Layouts Using Template Inheritance</vt:lpstr>
      <vt:lpstr>Stub Customization</vt:lpstr>
      <vt:lpstr>Migration in Laravel</vt:lpstr>
      <vt:lpstr>Seeding in Laravel</vt:lpstr>
      <vt:lpstr>Laravel Maintenance Mode</vt:lpstr>
      <vt:lpstr>Laravel Accessors</vt:lpstr>
      <vt:lpstr>Laravel Mutators</vt:lpstr>
      <vt:lpstr>Laravel One to One Relationship</vt:lpstr>
      <vt:lpstr>Eloquent Relationship</vt:lpstr>
      <vt:lpstr>Laravel One to Many Relationship</vt:lpstr>
      <vt:lpstr>Laravel Many to One  Relationship</vt:lpstr>
      <vt:lpstr>Send Email in Laravel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Hazrat Ali Nasar</dc:creator>
  <cp:lastModifiedBy>Admin</cp:lastModifiedBy>
  <cp:revision>149</cp:revision>
  <dcterms:created xsi:type="dcterms:W3CDTF">2025-09-03T17:16:20Z</dcterms:created>
  <dcterms:modified xsi:type="dcterms:W3CDTF">2025-09-12T12:10:18Z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