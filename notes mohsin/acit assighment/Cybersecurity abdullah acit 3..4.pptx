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80" autoAdjust="0"/>
    <p:restoredTop sz="94660"/>
  </p:normalViewPr>
  <p:slideViewPr>
    <p:cSldViewPr snapToGrid="0">
      <p:cViewPr varScale="1">
        <p:scale>
          <a:sx n="67" d="100"/>
          <a:sy n="67" d="100"/>
        </p:scale>
        <p:origin x="11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CDC1A6-D7D9-4D73-88E8-70BE4A6E1082}" type="datetimeFigureOut">
              <a:rPr lang="en-PK" smtClean="0"/>
              <a:t>22/10/2025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5E74F-5829-4222-ACD7-B93F888C433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52177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5E74F-5829-4222-ACD7-B93F888C4333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51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052-40F3-430F-BC63-A2FD54A625C1}" type="datetimeFigureOut">
              <a:rPr lang="en-PK" smtClean="0"/>
              <a:t>22/10/2025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C09C-34B0-4992-A3B3-D6B7840836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55308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052-40F3-430F-BC63-A2FD54A625C1}" type="datetimeFigureOut">
              <a:rPr lang="en-PK" smtClean="0"/>
              <a:t>22/10/2025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C09C-34B0-4992-A3B3-D6B7840836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20562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052-40F3-430F-BC63-A2FD54A625C1}" type="datetimeFigureOut">
              <a:rPr lang="en-PK" smtClean="0"/>
              <a:t>22/10/2025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C09C-34B0-4992-A3B3-D6B7840836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05232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052-40F3-430F-BC63-A2FD54A625C1}" type="datetimeFigureOut">
              <a:rPr lang="en-PK" smtClean="0"/>
              <a:t>22/10/2025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C09C-34B0-4992-A3B3-D6B7840836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27085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052-40F3-430F-BC63-A2FD54A625C1}" type="datetimeFigureOut">
              <a:rPr lang="en-PK" smtClean="0"/>
              <a:t>22/10/2025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C09C-34B0-4992-A3B3-D6B7840836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51485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052-40F3-430F-BC63-A2FD54A625C1}" type="datetimeFigureOut">
              <a:rPr lang="en-PK" smtClean="0"/>
              <a:t>22/10/2025</a:t>
            </a:fld>
            <a:endParaRPr lang="en-PK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C09C-34B0-4992-A3B3-D6B7840836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12851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052-40F3-430F-BC63-A2FD54A625C1}" type="datetimeFigureOut">
              <a:rPr lang="en-PK" smtClean="0"/>
              <a:t>22/10/2025</a:t>
            </a:fld>
            <a:endParaRPr lang="en-PK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C09C-34B0-4992-A3B3-D6B7840836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26544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052-40F3-430F-BC63-A2FD54A625C1}" type="datetimeFigureOut">
              <a:rPr lang="en-PK" smtClean="0"/>
              <a:t>22/10/2025</a:t>
            </a:fld>
            <a:endParaRPr lang="en-PK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C09C-34B0-4992-A3B3-D6B7840836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40109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052-40F3-430F-BC63-A2FD54A625C1}" type="datetimeFigureOut">
              <a:rPr lang="en-PK" smtClean="0"/>
              <a:t>22/10/2025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C09C-34B0-4992-A3B3-D6B7840836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30219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052-40F3-430F-BC63-A2FD54A625C1}" type="datetimeFigureOut">
              <a:rPr lang="en-PK" smtClean="0"/>
              <a:t>22/10/2025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C09C-34B0-4992-A3B3-D6B7840836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58680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052-40F3-430F-BC63-A2FD54A625C1}" type="datetimeFigureOut">
              <a:rPr lang="en-PK" smtClean="0"/>
              <a:t>22/10/2025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C09C-34B0-4992-A3B3-D6B7840836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56800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052-40F3-430F-BC63-A2FD54A625C1}" type="datetimeFigureOut">
              <a:rPr lang="en-PK" smtClean="0"/>
              <a:t>22/10/2025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C09C-34B0-4992-A3B3-D6B784083642}" type="slidenum">
              <a:rPr lang="en-PK" smtClean="0"/>
              <a:t>‹#›</a:t>
            </a:fld>
            <a:endParaRPr lang="en-PK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5302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052-40F3-430F-BC63-A2FD54A625C1}" type="datetimeFigureOut">
              <a:rPr lang="en-PK" smtClean="0"/>
              <a:t>22/10/2025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C09C-34B0-4992-A3B3-D6B7840836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86288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052-40F3-430F-BC63-A2FD54A625C1}" type="datetimeFigureOut">
              <a:rPr lang="en-PK" smtClean="0"/>
              <a:t>22/10/2025</a:t>
            </a:fld>
            <a:endParaRPr lang="en-P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C09C-34B0-4992-A3B3-D6B7840836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58642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052-40F3-430F-BC63-A2FD54A625C1}" type="datetimeFigureOut">
              <a:rPr lang="en-PK" smtClean="0"/>
              <a:t>22/10/2025</a:t>
            </a:fld>
            <a:endParaRPr lang="en-P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C09C-34B0-4992-A3B3-D6B7840836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811427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052-40F3-430F-BC63-A2FD54A625C1}" type="datetimeFigureOut">
              <a:rPr lang="en-PK" smtClean="0"/>
              <a:t>22/10/2025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C09C-34B0-4992-A3B3-D6B7840836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879639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052-40F3-430F-BC63-A2FD54A625C1}" type="datetimeFigureOut">
              <a:rPr lang="en-PK" smtClean="0"/>
              <a:t>22/10/2025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C09C-34B0-4992-A3B3-D6B7840836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07779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6A2A052-40F3-430F-BC63-A2FD54A625C1}" type="datetimeFigureOut">
              <a:rPr lang="en-PK" smtClean="0"/>
              <a:t>22/10/2025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5C09C-34B0-4992-A3B3-D6B7840836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342217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3FE7A-8F3B-71E0-BAE0-ED54DE2CE4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8402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Cybersecurity</a:t>
            </a:r>
            <a:endParaRPr lang="en-PK" dirty="0">
              <a:solidFill>
                <a:srgbClr val="FFC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28B29-4DBE-ABA3-33EE-054B52F343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06386"/>
            <a:ext cx="9144000" cy="1655762"/>
          </a:xfrm>
        </p:spPr>
        <p:txBody>
          <a:bodyPr/>
          <a:lstStyle/>
          <a:p>
            <a:pPr algn="ctr"/>
            <a:r>
              <a:rPr lang="en-US" dirty="0"/>
              <a:t>ACIT 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A7A769-863A-E321-B2FC-376F8C46B4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625" y="2671308"/>
            <a:ext cx="5183490" cy="30643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A1818D-5FD8-6BDA-8AF5-6C2ED60F7B28}"/>
              </a:ext>
            </a:extLst>
          </p:cNvPr>
          <p:cNvSpPr txBox="1"/>
          <p:nvPr/>
        </p:nvSpPr>
        <p:spPr>
          <a:xfrm>
            <a:off x="5638800" y="6076950"/>
            <a:ext cx="337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Abdullah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978539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417B9-4DCA-046F-DBE4-6ACD96BCC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Contents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60C3A-BBB3-A23F-5734-0D95F3BA0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Cybersecurity Regulations</a:t>
            </a:r>
          </a:p>
          <a:p>
            <a:r>
              <a:rPr lang="en-US" dirty="0"/>
              <a:t>Cybersecurity Measures</a:t>
            </a:r>
          </a:p>
          <a:p>
            <a:r>
              <a:rPr lang="en-US" dirty="0"/>
              <a:t>Sector-Specific Gaps Background and Federal Initiatives</a:t>
            </a:r>
          </a:p>
          <a:p>
            <a:r>
              <a:rPr lang="en-US" dirty="0"/>
              <a:t>Federal Cybersecurity Regulations State-Level Cybersecurity Efforts</a:t>
            </a:r>
          </a:p>
          <a:p>
            <a:r>
              <a:rPr lang="en-US" dirty="0"/>
              <a:t>Proposed Federal Legislation</a:t>
            </a:r>
          </a:p>
          <a:p>
            <a:r>
              <a:rPr lang="en-US" dirty="0"/>
              <a:t>Obama-Era Cybersecurity Initiatives</a:t>
            </a:r>
          </a:p>
          <a:p>
            <a:r>
              <a:rPr lang="en-US" dirty="0"/>
              <a:t>Other Government Efforts</a:t>
            </a:r>
          </a:p>
          <a:p>
            <a:r>
              <a:rPr lang="en-US" dirty="0"/>
              <a:t>Conclusion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362110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0E774-1290-32E5-7D5B-B01D30370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" y="258536"/>
            <a:ext cx="4523014" cy="996043"/>
          </a:xfrm>
        </p:spPr>
        <p:txBody>
          <a:bodyPr>
            <a:noAutofit/>
          </a:bodyPr>
          <a:lstStyle/>
          <a:p>
            <a:pPr algn="ctr"/>
            <a:r>
              <a:rPr lang="en-US" b="1" u="sng" dirty="0">
                <a:solidFill>
                  <a:srgbClr val="00B050"/>
                </a:solidFill>
              </a:rPr>
              <a:t>Introduction to Cybersecurity Regulations</a:t>
            </a:r>
            <a:endParaRPr lang="en-PK" b="1" u="sng" dirty="0">
              <a:solidFill>
                <a:srgbClr val="00B05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5D53F52-6F3E-662F-AEE6-5362C44AD3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88489" y="1424800"/>
            <a:ext cx="5410200" cy="3172324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64917AC-8EA7-8097-FACA-318C213C219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489856" y="1380644"/>
            <a:ext cx="599863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Today man is able to send and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receive any form of data may be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e-mail or an audio or video just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the click of a button but did he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 think how securely his data is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being transmitted or sent to the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person safely without any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leakage of information ?? The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 lies in cyber security.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 refers to a set of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techniques used to protect the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integrity of networks, programs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data from attack, damage or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unauthorized access.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7802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2D4F0-C687-58F7-2E3F-8C555A61C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950" y="987424"/>
            <a:ext cx="3267075" cy="1069975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Cybersecurity Measures</a:t>
            </a:r>
            <a:endParaRPr lang="en-PK" sz="36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DF7BD23-ECF3-7C03-A054-7157D9E49F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20942" y="1528763"/>
            <a:ext cx="4928470" cy="348138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80D6F0-91D5-D5BD-9EAF-704D2FD12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427662" cy="3803650"/>
          </a:xfrm>
        </p:spPr>
        <p:txBody>
          <a:bodyPr>
            <a:normAutofit fontScale="925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Tools: firewalls, antivirus, encryption, intrusion detection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Government-private sector collaboration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Regulatory examinations by industry bodies</a:t>
            </a:r>
          </a:p>
          <a:p>
            <a:endParaRPr lang="en-PK" sz="3200" dirty="0"/>
          </a:p>
        </p:txBody>
      </p:sp>
    </p:spTree>
    <p:extLst>
      <p:ext uri="{BB962C8B-B14F-4D97-AF65-F5344CB8AC3E}">
        <p14:creationId xmlns:p14="http://schemas.microsoft.com/office/powerpoint/2010/main" val="33992093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ADF99-D39B-1BE9-2C8E-F41EC3AAC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4050" y="1981200"/>
            <a:ext cx="9080500" cy="1057275"/>
          </a:xfrm>
        </p:spPr>
        <p:txBody>
          <a:bodyPr/>
          <a:lstStyle/>
          <a:p>
            <a:r>
              <a:rPr lang="en-US" dirty="0"/>
              <a:t>Sector-Specific Gaps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25298-1D4C-73FE-810E-D3847D5B2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8950" y="3209925"/>
            <a:ext cx="10515600" cy="1500187"/>
          </a:xfrm>
        </p:spPr>
        <p:txBody>
          <a:bodyPr>
            <a:normAutofit fontScale="77500" lnSpcReduction="2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Maritime industry lacks cybersecurity enforcement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Vulnerabilities in ship-port digital connectivity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82486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37F86-5A97-D00C-AE6C-350CB2792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550" y="1181099"/>
            <a:ext cx="9239250" cy="1325563"/>
          </a:xfrm>
        </p:spPr>
        <p:txBody>
          <a:bodyPr/>
          <a:lstStyle/>
          <a:p>
            <a:r>
              <a:rPr lang="en-US" dirty="0"/>
              <a:t>Background and Federal Initiatives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94DD1-05F9-11B3-20A1-ABEA4749A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r>
              <a:rPr lang="en-US" sz="3200" dirty="0"/>
              <a:t>2011 DoD Strategy: 5 goals for cyberspace defense</a:t>
            </a:r>
          </a:p>
          <a:p>
            <a:r>
              <a:rPr lang="en-US" sz="3200" dirty="0"/>
              <a:t>GAO report: Cybersecurity as high-risk area since 1997</a:t>
            </a:r>
          </a:p>
          <a:p>
            <a:r>
              <a:rPr lang="en-US" sz="3200" dirty="0"/>
              <a:t>2013 DoD rule: NIST compliance, incident reporting, subcontractor obligations</a:t>
            </a:r>
          </a:p>
          <a:p>
            <a:r>
              <a:rPr lang="en-US" sz="3200" dirty="0"/>
              <a:t>FISMA (2002): Key federal cybersecurity statute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630023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7A595-0430-FF61-2B1A-4E280E583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95401"/>
            <a:ext cx="6494462" cy="628650"/>
          </a:xfrm>
        </p:spPr>
        <p:txBody>
          <a:bodyPr>
            <a:normAutofit fontScale="90000"/>
          </a:bodyPr>
          <a:lstStyle/>
          <a:p>
            <a:r>
              <a:rPr lang="en-US" dirty="0"/>
              <a:t>Federal Cybersecurity Regulations</a:t>
            </a:r>
            <a:endParaRPr lang="en-PK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C023304-E06D-B900-65C3-DA3044E1F52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6291" r="16291"/>
          <a:stretch>
            <a:fillRect/>
          </a:stretch>
        </p:blipFill>
        <p:spPr>
          <a:xfrm>
            <a:off x="6872845" y="987424"/>
            <a:ext cx="4479367" cy="353694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B56A6E-4C27-B44A-AEFA-F2144418E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6919" y="1924051"/>
            <a:ext cx="5299631" cy="3352799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HIPAA (1996), Gramm-Leach-Bliley (1999), Homeland Security Act (2002)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Focus on healthcare, finance, and federal agencies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Limitations: vague language, lack of coverage for ISPs/software firms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Bruce Schneier’s critique: Need for stronger enforcement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951515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5B987-4EB1-9304-C91E-EC733A2A5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State-Level Cybersecurity Efforts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C1CE3-5BB5-8841-84DA-552AE0675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California’s Notice of Security Breach Act (2003)</a:t>
            </a:r>
          </a:p>
          <a:p>
            <a:r>
              <a:rPr lang="en-US" sz="3200" dirty="0"/>
              <a:t>Assembly Bill 1950 (2004): Extends security obligations to business partners</a:t>
            </a:r>
          </a:p>
          <a:p>
            <a:r>
              <a:rPr lang="en-US" sz="3200" dirty="0"/>
              <a:t>Other states following California’s lead</a:t>
            </a:r>
          </a:p>
          <a:p>
            <a:r>
              <a:rPr lang="en-US" sz="3200" dirty="0"/>
              <a:t>Incentives for voluntary cybersecurity investment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166929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18F42-438A-EF6D-3E8B-C6B703558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Obama-Era Cybersecurity Initiatives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B4858-AC3B-0AC2-6D2B-E3B152603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400" dirty="0"/>
              <a:t>Feb 2013: Executive Order on Improving Critical Infrastructure Cybersecurity</a:t>
            </a:r>
          </a:p>
          <a:p>
            <a:r>
              <a:rPr lang="en-US" sz="2400" dirty="0"/>
              <a:t>Enhances public-private partnerships</a:t>
            </a:r>
          </a:p>
          <a:p>
            <a:r>
              <a:rPr lang="en-US" sz="2400" dirty="0"/>
              <a:t>DHS to share threat intelligence</a:t>
            </a:r>
          </a:p>
          <a:p>
            <a:r>
              <a:rPr lang="en-US" sz="2400" dirty="0"/>
              <a:t>Develops risk-reduction framework</a:t>
            </a:r>
          </a:p>
          <a:p>
            <a:r>
              <a:rPr lang="en-US" sz="2400" dirty="0"/>
              <a:t>Includes privacy protections</a:t>
            </a:r>
          </a:p>
          <a:p>
            <a:r>
              <a:rPr lang="en-US" sz="2600" dirty="0"/>
              <a:t>Jan 2015: Cybersecurity Legislative Proposal</a:t>
            </a:r>
          </a:p>
          <a:p>
            <a:r>
              <a:rPr lang="en-US" sz="2600" dirty="0"/>
              <a:t>Encourages info sharing with liability protection</a:t>
            </a:r>
          </a:p>
          <a:p>
            <a:r>
              <a:rPr lang="en-US" sz="2600" dirty="0"/>
              <a:t>Modernizes law enforcement tools</a:t>
            </a:r>
          </a:p>
          <a:p>
            <a:r>
              <a:rPr lang="en-US" sz="2600" dirty="0"/>
              <a:t>Criminalizes overseas sale of financial data</a:t>
            </a:r>
          </a:p>
          <a:p>
            <a:r>
              <a:rPr lang="en-US" sz="2600" dirty="0"/>
              <a:t>Requires breach notification to consumers</a:t>
            </a:r>
          </a:p>
          <a:p>
            <a:endParaRPr lang="en-P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CEACA1-02B6-747E-713A-9C6A706BA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896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2C1CC-2C35-B898-95FC-55E5F558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26" y="452437"/>
            <a:ext cx="3932237" cy="1069975"/>
          </a:xfrm>
        </p:spPr>
        <p:txBody>
          <a:bodyPr/>
          <a:lstStyle/>
          <a:p>
            <a:r>
              <a:rPr lang="en-US" dirty="0"/>
              <a:t>Other Government Efforts</a:t>
            </a:r>
            <a:endParaRPr lang="en-P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0253026-AF04-EF26-69A1-98EFAFBF5B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0800" y="1023936"/>
            <a:ext cx="5276850" cy="3822566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565579F-C81F-993B-7EB5-F3D806F866A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88926" y="1725921"/>
            <a:ext cx="4894262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2003: National Strategy to Secure Cyberspace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DHS responsible for security recommendations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Promotes emergency response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2004: $4.7 billion allocated to cybersecurity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Strategy seen as a framework, not enforcement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CISPA (2013): Encourages breach info sharing, but faced veto threat</a:t>
            </a:r>
          </a:p>
        </p:txBody>
      </p:sp>
    </p:spTree>
    <p:extLst>
      <p:ext uri="{BB962C8B-B14F-4D97-AF65-F5344CB8AC3E}">
        <p14:creationId xmlns:p14="http://schemas.microsoft.com/office/powerpoint/2010/main" val="28707270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40A03-CBB3-3FEB-A919-137657FA7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Conclusion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B7491-16B9-8C06-4516-401B19025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5350" cy="4667250"/>
          </a:xfrm>
        </p:spPr>
        <p:txBody>
          <a:bodyPr/>
          <a:lstStyle/>
          <a:p>
            <a:r>
              <a:rPr lang="en-US" dirty="0"/>
              <a:t>Cybersecurity regulations are evolving but fragmented</a:t>
            </a:r>
          </a:p>
          <a:p>
            <a:r>
              <a:rPr lang="en-US" dirty="0"/>
              <a:t>Need for enforceable, inclusive, and balanced policies</a:t>
            </a:r>
          </a:p>
          <a:p>
            <a:r>
              <a:rPr lang="en-US" dirty="0"/>
              <a:t>Importance of collaboration across sectors and levels of government</a:t>
            </a:r>
          </a:p>
          <a:p>
            <a:endParaRPr lang="en-P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8402AA-E695-FCBD-E922-78B9076BE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899" y="1122288"/>
            <a:ext cx="4267201" cy="2530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20CB73-91F2-CCCE-E595-E135B7C90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899" y="3811193"/>
            <a:ext cx="4368073" cy="253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48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D242641-3CE7-429A-A476-2852557F2C25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181</TotalTime>
  <Words>406</Words>
  <Application>Microsoft Office PowerPoint</Application>
  <PresentationFormat>Widescreen</PresentationFormat>
  <Paragraphs>72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Ion</vt:lpstr>
      <vt:lpstr>Cybersecurity</vt:lpstr>
      <vt:lpstr>Contents</vt:lpstr>
      <vt:lpstr>Introduction to Cybersecurity Regulations</vt:lpstr>
      <vt:lpstr>Cybersecurity Measures</vt:lpstr>
      <vt:lpstr>Sector-Specific Gaps</vt:lpstr>
      <vt:lpstr>Background and Federal Initiatives</vt:lpstr>
      <vt:lpstr>Federal Cybersecurity Regulations</vt:lpstr>
      <vt:lpstr>State-Level Cybersecurity Efforts</vt:lpstr>
      <vt:lpstr>Obama-Era Cybersecurity Initiatives</vt:lpstr>
      <vt:lpstr>Other Government Efforts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umarghjkh gjgdsssas</dc:creator>
  <cp:lastModifiedBy>umarghjkh gjgdsssas</cp:lastModifiedBy>
  <cp:revision>3</cp:revision>
  <dcterms:created xsi:type="dcterms:W3CDTF">2025-10-21T12:59:08Z</dcterms:created>
  <dcterms:modified xsi:type="dcterms:W3CDTF">2025-10-22T07:53:56Z</dcterms:modified>
</cp:coreProperties>
</file>